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9902952" cy="502920"/>
          </a:xfrm>
          <a:prstGeom prst="rect">
            <a:avLst/>
          </a:prstGeom>
          <a:noFill/>
          <a:solidFill>
            <a:srgbClr val="1F497D"/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AI Auditor — TPI Due Diligence  |  Provisioning Requirements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13264" y="73152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7F6000"/>
                </a:solidFill>
              </a:rPr>
              <a:t>★ = Additional requirement beyond approved parallel-team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" y="658368"/>
            <a:ext cx="256032" cy="274320"/>
          </a:xfrm>
          <a:prstGeom prst="rect">
            <a:avLst/>
          </a:prstGeom>
          <a:noFill/>
          <a:solidFill>
            <a:srgbClr val="D6DCE4"/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1F497D"/>
                </a:solidFill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3192" y="658368"/>
            <a:ext cx="1417320" cy="274320"/>
          </a:xfrm>
          <a:prstGeom prst="rect">
            <a:avLst/>
          </a:prstGeom>
          <a:noFill/>
          <a:solidFill>
            <a:srgbClr val="D6DCE4"/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1F497D"/>
                </a:solidFill>
              </a:rPr>
              <a:t>Requirement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10512" y="658368"/>
            <a:ext cx="2560320" cy="274320"/>
          </a:xfrm>
          <a:prstGeom prst="rect">
            <a:avLst/>
          </a:prstGeom>
          <a:noFill/>
          <a:solidFill>
            <a:srgbClr val="D6DCE4"/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1F497D"/>
                </a:solidFill>
              </a:rPr>
              <a:t>Usage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70832" y="658368"/>
            <a:ext cx="3291840" cy="274320"/>
          </a:xfrm>
          <a:prstGeom prst="rect">
            <a:avLst/>
          </a:prstGeom>
          <a:noFill/>
          <a:solidFill>
            <a:srgbClr val="D6DCE4"/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1F497D"/>
                </a:solidFill>
              </a:rPr>
              <a:t>Tool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62672" y="658368"/>
            <a:ext cx="1280160" cy="274320"/>
          </a:xfrm>
          <a:prstGeom prst="rect">
            <a:avLst/>
          </a:prstGeom>
          <a:noFill/>
          <a:solidFill>
            <a:srgbClr val="D6DCE4"/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1F497D"/>
                </a:solidFill>
              </a:rPr>
              <a:t>Availability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42832" y="658368"/>
            <a:ext cx="1097280" cy="274320"/>
          </a:xfrm>
          <a:prstGeom prst="rect">
            <a:avLst/>
          </a:prstGeom>
          <a:noFill/>
          <a:solidFill>
            <a:srgbClr val="D6DCE4"/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1F497D"/>
                </a:solidFill>
              </a:rPr>
              <a:t>Access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" y="932688"/>
            <a:ext cx="256032" cy="1097280"/>
          </a:xfrm>
          <a:prstGeom prst="rect">
            <a:avLst/>
          </a:prstGeom>
          <a:noFill/>
          <a:solidFill>
            <a:srgbClr val="C00000"/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</a:rPr>
              <a:t>Data
Prep.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" y="2029968"/>
            <a:ext cx="256032" cy="1371600"/>
          </a:xfrm>
          <a:prstGeom prst="rect">
            <a:avLst/>
          </a:prstGeom>
          <a:noFill/>
          <a:solidFill>
            <a:srgbClr val="1F3764"/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</a:rPr>
              <a:t>Model
Dev.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" y="3401568"/>
            <a:ext cx="256032" cy="1097280"/>
          </a:xfrm>
          <a:prstGeom prst="rect">
            <a:avLst/>
          </a:prstGeom>
          <a:noFill/>
          <a:solidFill>
            <a:srgbClr val="1F5C4A"/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</a:rPr>
              <a:t>Deploy.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" y="932688"/>
            <a:ext cx="1417320" cy="274320"/>
          </a:xfrm>
          <a:prstGeom prst="rect">
            <a:avLst/>
          </a:prstGeom>
          <a:noFill/>
          <a:solidFill>
            <a:srgbClr val="F2F2F2"/>
          </a:solidFill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F497D"/>
                </a:solidFill>
              </a:rPr>
              <a:t>Document Reading,
Validation &amp; OCR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10512" y="932688"/>
            <a:ext cx="2560320" cy="274320"/>
          </a:xfrm>
          <a:prstGeom prst="rect">
            <a:avLst/>
          </a:prstGeom>
          <a:noFill/>
          <a:solidFill>
            <a:srgbClr val="F2F2F2"/>
          </a:solidFill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000000"/>
                </a:solidFill>
              </a:rPr>
              <a:t>Reading policy PDFs, supporting docs, scanned image files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70832" y="932688"/>
            <a:ext cx="3291840" cy="274320"/>
          </a:xfrm>
          <a:prstGeom prst="rect">
            <a:avLst/>
          </a:prstGeom>
          <a:noFill/>
          <a:solidFill>
            <a:srgbClr val="F2F2F2"/>
          </a:solidFill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F3764"/>
                </a:solidFill>
              </a:rPr>
              <a:t>Python – pypdf2, python-docx, openpyxl
Tesseract OCR (scanned PDFs) 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62672" y="932688"/>
            <a:ext cx="1280160" cy="274320"/>
          </a:xfrm>
          <a:prstGeom prst="rect">
            <a:avLst/>
          </a:prstGeom>
          <a:noFill/>
          <a:solidFill>
            <a:srgbClr val="F2F2F2"/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</a:rPr>
              <a:t>Available with
Databricks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42832" y="932688"/>
            <a:ext cx="1097280" cy="274320"/>
          </a:xfrm>
          <a:prstGeom prst="rect">
            <a:avLst/>
          </a:prstGeom>
          <a:noFill/>
          <a:solidFill>
            <a:srgbClr val="F2F2F2"/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378610"/>
                </a:solidFill>
              </a:rPr>
              <a:t>Completed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" y="1207008"/>
            <a:ext cx="1417320" cy="274320"/>
          </a:xfrm>
          <a:prstGeom prst="rect">
            <a:avLst/>
          </a:prstGeom>
          <a:noFill/>
          <a:solidFill>
            <a:srgbClr val="FFF2CC"/>
          </a:solidFill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F6000"/>
                </a:solidFill>
              </a:rPr>
              <a:t>★ Vector Search
Indexes 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10512" y="1207008"/>
            <a:ext cx="2560320" cy="274320"/>
          </a:xfrm>
          <a:prstGeom prst="rect">
            <a:avLst/>
          </a:prstGeom>
          <a:noFill/>
          <a:solidFill>
            <a:srgbClr val="FFF2CC"/>
          </a:solidFill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000000"/>
                </a:solidFill>
              </a:rPr>
              <a:t>RAG retrieval for HCBI Policy, TPI DD Policy and Supporting Docs (3 indexes)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0832" y="1207008"/>
            <a:ext cx="3291840" cy="274320"/>
          </a:xfrm>
          <a:prstGeom prst="rect">
            <a:avLst/>
          </a:prstGeom>
          <a:noFill/>
          <a:solidFill>
            <a:srgbClr val="FFF2CC"/>
          </a:solidFill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F3764"/>
                </a:solidFill>
              </a:rPr>
              <a:t>Databricks Vector Search
(Direct Access indexes — hcbi, policy, supporting_docs)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62672" y="1207008"/>
            <a:ext cx="1280160" cy="274320"/>
          </a:xfrm>
          <a:prstGeom prst="rect">
            <a:avLst/>
          </a:prstGeom>
          <a:noFill/>
          <a:solidFill>
            <a:srgbClr val="FFF2CC"/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</a:rPr>
              <a:t>Available with
Databricks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42832" y="1207008"/>
            <a:ext cx="1097280" cy="274320"/>
          </a:xfrm>
          <a:prstGeom prst="rect">
            <a:avLst/>
          </a:prstGeom>
          <a:noFill/>
          <a:solidFill>
            <a:srgbClr val="FFF2CC"/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C00000"/>
                </a:solidFill>
              </a:rPr>
              <a:t>Required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" y="1481328"/>
            <a:ext cx="1417320" cy="274320"/>
          </a:xfrm>
          <a:prstGeom prst="rect">
            <a:avLst/>
          </a:prstGeom>
          <a:noFill/>
          <a:solidFill>
            <a:srgbClr val="F2F2F2"/>
          </a:solidFill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F497D"/>
                </a:solidFill>
              </a:rPr>
              <a:t>Database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10512" y="1481328"/>
            <a:ext cx="2560320" cy="274320"/>
          </a:xfrm>
          <a:prstGeom prst="rect">
            <a:avLst/>
          </a:prstGeom>
          <a:noFill/>
          <a:solidFill>
            <a:srgbClr val="F2F2F2"/>
          </a:solidFill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000000"/>
                </a:solidFill>
              </a:rPr>
              <a:t>Questionnaire input tables, output Delta tables, scope embeddings, TPI inventory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70832" y="1481328"/>
            <a:ext cx="3291840" cy="274320"/>
          </a:xfrm>
          <a:prstGeom prst="rect">
            <a:avLst/>
          </a:prstGeom>
          <a:noFill/>
          <a:solidFill>
            <a:srgbClr val="F2F2F2"/>
          </a:solidFill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F3764"/>
                </a:solidFill>
              </a:rPr>
              <a:t>Databricks Unity Catalog / Delta Tables
(cat_cbt_gaa_brz_dev)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62672" y="1481328"/>
            <a:ext cx="1280160" cy="274320"/>
          </a:xfrm>
          <a:prstGeom prst="rect">
            <a:avLst/>
          </a:prstGeom>
          <a:noFill/>
          <a:solidFill>
            <a:srgbClr val="F2F2F2"/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</a:rPr>
              <a:t>Available with
Databricks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42832" y="1481328"/>
            <a:ext cx="1097280" cy="274320"/>
          </a:xfrm>
          <a:prstGeom prst="rect">
            <a:avLst/>
          </a:prstGeom>
          <a:noFill/>
          <a:solidFill>
            <a:srgbClr val="F2F2F2"/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378610"/>
                </a:solidFill>
              </a:rPr>
              <a:t>Completed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3192" y="1755648"/>
            <a:ext cx="1417320" cy="274320"/>
          </a:xfrm>
          <a:prstGeom prst="rect">
            <a:avLst/>
          </a:prstGeom>
          <a:noFill/>
          <a:solidFill>
            <a:srgbClr val="FFFFFF"/>
          </a:solidFill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F497D"/>
                </a:solidFill>
              </a:rPr>
              <a:t>File Storage
(Volumes)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10512" y="1755648"/>
            <a:ext cx="2560320" cy="274320"/>
          </a:xfrm>
          <a:prstGeom prst="rect">
            <a:avLst/>
          </a:prstGeom>
          <a:noFill/>
          <a:solidFill>
            <a:srgbClr val="FFFFFF"/>
          </a:solidFill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000000"/>
                </a:solidFill>
              </a:rPr>
              <a:t>Store policy documents, supporting evidence, TPI inventory file, HCC GL map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70832" y="1755648"/>
            <a:ext cx="3291840" cy="274320"/>
          </a:xfrm>
          <a:prstGeom prst="rect">
            <a:avLst/>
          </a:prstGeom>
          <a:noFill/>
          <a:solidFill>
            <a:srgbClr val="FFFFFF"/>
          </a:solidFill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F3764"/>
                </a:solidFill>
              </a:rPr>
              <a:t>Databricks Volumes
(/Volumes/cat_cbt_gaa_brz_dev/...)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62672" y="1755648"/>
            <a:ext cx="1280160" cy="274320"/>
          </a:xfrm>
          <a:prstGeom prst="rect">
            <a:avLst/>
          </a:prstGeom>
          <a:noFill/>
          <a:solidFill>
            <a:srgbClr val="FFFFFF"/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</a:rPr>
              <a:t>Available with
Databricks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42832" y="1755648"/>
            <a:ext cx="1097280" cy="274320"/>
          </a:xfrm>
          <a:prstGeom prst="rect">
            <a:avLst/>
          </a:prstGeom>
          <a:noFill/>
          <a:solidFill>
            <a:srgbClr val="FFFFFF"/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378610"/>
                </a:solidFill>
              </a:rPr>
              <a:t>Completed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3192" y="2029968"/>
            <a:ext cx="1417320" cy="274320"/>
          </a:xfrm>
          <a:prstGeom prst="rect">
            <a:avLst/>
          </a:prstGeom>
          <a:noFill/>
          <a:solidFill>
            <a:srgbClr val="FFF2CC"/>
          </a:solidFill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F6000"/>
                </a:solidFill>
              </a:rPr>
              <a:t>★ Large Language
Models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10512" y="2029968"/>
            <a:ext cx="2560320" cy="274320"/>
          </a:xfrm>
          <a:prstGeom prst="rect">
            <a:avLst/>
          </a:prstGeom>
          <a:noFill/>
          <a:solidFill>
            <a:srgbClr val="FFF2CC"/>
          </a:solidFill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000000"/>
                </a:solidFill>
              </a:rPr>
              <a:t>6-agent audit pipeline – risk classification, gap detection, policy analysis, NL-to-SQL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70832" y="2029968"/>
            <a:ext cx="3291840" cy="274320"/>
          </a:xfrm>
          <a:prstGeom prst="rect">
            <a:avLst/>
          </a:prstGeom>
          <a:noFill/>
          <a:solidFill>
            <a:srgbClr val="FFF2CC"/>
          </a:solidFill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F3764"/>
                </a:solidFill>
              </a:rPr>
              <a:t>Azure OpenAI – GPT-5 ★
(JNJ Internal Gateway: genaiapimna.jnj.com)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62672" y="2029968"/>
            <a:ext cx="1280160" cy="274320"/>
          </a:xfrm>
          <a:prstGeom prst="rect">
            <a:avLst/>
          </a:prstGeom>
          <a:noFill/>
          <a:solidFill>
            <a:srgbClr val="FFF2CC"/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</a:rPr>
              <a:t>Required
(JNJ Gateway)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42832" y="2029968"/>
            <a:ext cx="1097280" cy="274320"/>
          </a:xfrm>
          <a:prstGeom prst="rect">
            <a:avLst/>
          </a:prstGeom>
          <a:noFill/>
          <a:solidFill>
            <a:srgbClr val="FFF2CC"/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C55A11"/>
                </a:solidFill>
              </a:rPr>
              <a:t>In Process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93192" y="2304288"/>
            <a:ext cx="1417320" cy="274320"/>
          </a:xfrm>
          <a:prstGeom prst="rect">
            <a:avLst/>
          </a:prstGeom>
          <a:noFill/>
          <a:solidFill>
            <a:srgbClr val="FFF2CC"/>
          </a:solidFill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F6000"/>
                </a:solidFill>
              </a:rPr>
              <a:t>★ Embeddings 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810512" y="2304288"/>
            <a:ext cx="2560320" cy="274320"/>
          </a:xfrm>
          <a:prstGeom prst="rect">
            <a:avLst/>
          </a:prstGeom>
          <a:noFill/>
          <a:solidFill>
            <a:srgbClr val="FFF2CC"/>
          </a:solidFill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000000"/>
                </a:solidFill>
              </a:rPr>
              <a:t>Document chunking, semantic vector search across policy and evidence indexes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70832" y="2304288"/>
            <a:ext cx="3291840" cy="274320"/>
          </a:xfrm>
          <a:prstGeom prst="rect">
            <a:avLst/>
          </a:prstGeom>
          <a:noFill/>
          <a:solidFill>
            <a:srgbClr val="FFF2CC"/>
          </a:solidFill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F3764"/>
                </a:solidFill>
              </a:rPr>
              <a:t>Azure OpenAI – text-embedding-3-small ★
(Same JNJ gateway endpoint)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62672" y="2304288"/>
            <a:ext cx="1280160" cy="274320"/>
          </a:xfrm>
          <a:prstGeom prst="rect">
            <a:avLst/>
          </a:prstGeom>
          <a:noFill/>
          <a:solidFill>
            <a:srgbClr val="FFF2CC"/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</a:rPr>
              <a:t>Required
(JNJ Gateway)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42832" y="2304288"/>
            <a:ext cx="1097280" cy="274320"/>
          </a:xfrm>
          <a:prstGeom prst="rect">
            <a:avLst/>
          </a:prstGeom>
          <a:noFill/>
          <a:solidFill>
            <a:srgbClr val="FFF2CC"/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C55A11"/>
                </a:solidFill>
              </a:rPr>
              <a:t>In Process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93192" y="2578608"/>
            <a:ext cx="1417320" cy="274320"/>
          </a:xfrm>
          <a:prstGeom prst="rect">
            <a:avLst/>
          </a:prstGeom>
          <a:noFill/>
          <a:solidFill>
            <a:srgbClr val="FFF2CC"/>
          </a:solidFill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F6000"/>
                </a:solidFill>
              </a:rPr>
              <a:t>★ SQL Warehouse ★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810512" y="2578608"/>
            <a:ext cx="2560320" cy="274320"/>
          </a:xfrm>
          <a:prstGeom prst="rect">
            <a:avLst/>
          </a:prstGeom>
          <a:noFill/>
          <a:solidFill>
            <a:srgbClr val="FFF2CC"/>
          </a:solidFill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000000"/>
                </a:solidFill>
              </a:rPr>
              <a:t>NL-to-SQL transactional queries against payment, credit memo and revenue tables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70832" y="2578608"/>
            <a:ext cx="3291840" cy="274320"/>
          </a:xfrm>
          <a:prstGeom prst="rect">
            <a:avLst/>
          </a:prstGeom>
          <a:noFill/>
          <a:solidFill>
            <a:srgbClr val="FFF2CC"/>
          </a:solidFill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F3764"/>
                </a:solidFill>
              </a:rPr>
              <a:t>Databricks SQL Warehouse ★
(TransactionalDataAgent – live Delta table queries)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62672" y="2578608"/>
            <a:ext cx="1280160" cy="274320"/>
          </a:xfrm>
          <a:prstGeom prst="rect">
            <a:avLst/>
          </a:prstGeom>
          <a:noFill/>
          <a:solidFill>
            <a:srgbClr val="FFF2CC"/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</a:rPr>
              <a:t>Available with
Databricks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942832" y="2578608"/>
            <a:ext cx="1097280" cy="274320"/>
          </a:xfrm>
          <a:prstGeom prst="rect">
            <a:avLst/>
          </a:prstGeom>
          <a:noFill/>
          <a:solidFill>
            <a:srgbClr val="FFF2CC"/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C00000"/>
                </a:solidFill>
              </a:rPr>
              <a:t>Required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93192" y="2852928"/>
            <a:ext cx="1417320" cy="274320"/>
          </a:xfrm>
          <a:prstGeom prst="rect">
            <a:avLst/>
          </a:prstGeom>
          <a:noFill/>
          <a:solidFill>
            <a:srgbClr val="FFFFFF"/>
          </a:solidFill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F497D"/>
                </a:solidFill>
              </a:rPr>
              <a:t>Orchestration &amp;
Secrets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810512" y="2852928"/>
            <a:ext cx="2560320" cy="274320"/>
          </a:xfrm>
          <a:prstGeom prst="rect">
            <a:avLst/>
          </a:prstGeom>
          <a:noFill/>
          <a:solidFill>
            <a:srgbClr val="FFFFFF"/>
          </a:solidFill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000000"/>
                </a:solidFill>
              </a:rPr>
              <a:t>Multi-agent parallel pipeline (asyncio, up to 5 concurrent), secrets management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70832" y="2852928"/>
            <a:ext cx="3291840" cy="274320"/>
          </a:xfrm>
          <a:prstGeom prst="rect">
            <a:avLst/>
          </a:prstGeom>
          <a:noFill/>
          <a:solidFill>
            <a:srgbClr val="FFFFFF"/>
          </a:solidFill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F3764"/>
                </a:solidFill>
              </a:rPr>
              <a:t>Python asyncio
Azure Key Vault (Databricks secrets scope)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62672" y="2852928"/>
            <a:ext cx="1280160" cy="274320"/>
          </a:xfrm>
          <a:prstGeom prst="rect">
            <a:avLst/>
          </a:prstGeom>
          <a:noFill/>
          <a:solidFill>
            <a:srgbClr val="FFFFFF"/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</a:rPr>
              <a:t>Available /
Required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942832" y="2852928"/>
            <a:ext cx="1097280" cy="274320"/>
          </a:xfrm>
          <a:prstGeom prst="rect">
            <a:avLst/>
          </a:prstGeom>
          <a:noFill/>
          <a:solidFill>
            <a:srgbClr val="FFFFFF"/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378610"/>
                </a:solidFill>
              </a:rPr>
              <a:t>Completed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93192" y="3127248"/>
            <a:ext cx="1417320" cy="274320"/>
          </a:xfrm>
          <a:prstGeom prst="rect">
            <a:avLst/>
          </a:prstGeom>
          <a:noFill/>
          <a:solidFill>
            <a:srgbClr val="F2F2F2"/>
          </a:solidFill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F497D"/>
                </a:solidFill>
              </a:rPr>
              <a:t>Source Code &amp;
Version Tracking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810512" y="3127248"/>
            <a:ext cx="2560320" cy="274320"/>
          </a:xfrm>
          <a:prstGeom prst="rect">
            <a:avLst/>
          </a:prstGeom>
          <a:noFill/>
          <a:solidFill>
            <a:srgbClr val="F2F2F2"/>
          </a:solidFill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000000"/>
                </a:solidFill>
              </a:rPr>
              <a:t>Source code version control, branching and merging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370832" y="3127248"/>
            <a:ext cx="3291840" cy="274320"/>
          </a:xfrm>
          <a:prstGeom prst="rect">
            <a:avLst/>
          </a:prstGeom>
          <a:noFill/>
          <a:solidFill>
            <a:srgbClr val="F2F2F2"/>
          </a:solidFill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F3764"/>
                </a:solidFill>
              </a:rPr>
              <a:t>Bitbucket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662672" y="3127248"/>
            <a:ext cx="1280160" cy="274320"/>
          </a:xfrm>
          <a:prstGeom prst="rect">
            <a:avLst/>
          </a:prstGeom>
          <a:noFill/>
          <a:solidFill>
            <a:srgbClr val="F2F2F2"/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</a:rPr>
              <a:t>Required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942832" y="3127248"/>
            <a:ext cx="1097280" cy="274320"/>
          </a:xfrm>
          <a:prstGeom prst="rect">
            <a:avLst/>
          </a:prstGeom>
          <a:noFill/>
          <a:solidFill>
            <a:srgbClr val="F2F2F2"/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378610"/>
                </a:solidFill>
              </a:rPr>
              <a:t>Completed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93192" y="3401568"/>
            <a:ext cx="1417320" cy="274320"/>
          </a:xfrm>
          <a:prstGeom prst="rect">
            <a:avLst/>
          </a:prstGeom>
          <a:noFill/>
          <a:solidFill>
            <a:srgbClr val="FFFFFF"/>
          </a:solidFill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F497D"/>
                </a:solidFill>
              </a:rPr>
              <a:t>Deployment
Environments / CI/CD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810512" y="3401568"/>
            <a:ext cx="2560320" cy="274320"/>
          </a:xfrm>
          <a:prstGeom prst="rect">
            <a:avLst/>
          </a:prstGeom>
          <a:noFill/>
          <a:solidFill>
            <a:srgbClr val="FFFFFF"/>
          </a:solidFill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000000"/>
                </a:solidFill>
              </a:rPr>
              <a:t>Azure Cloud environments for DEV, UAT and PROD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370832" y="3401568"/>
            <a:ext cx="3291840" cy="274320"/>
          </a:xfrm>
          <a:prstGeom prst="rect">
            <a:avLst/>
          </a:prstGeom>
          <a:noFill/>
          <a:solidFill>
            <a:srgbClr val="FFFFFF"/>
          </a:solidFill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F3764"/>
                </a:solidFill>
              </a:rPr>
              <a:t>Azure DEV, UAT, PROD
Jenkins for CI/CD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662672" y="3401568"/>
            <a:ext cx="1280160" cy="274320"/>
          </a:xfrm>
          <a:prstGeom prst="rect">
            <a:avLst/>
          </a:prstGeom>
          <a:noFill/>
          <a:solidFill>
            <a:srgbClr val="FFFFFF"/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</a:rPr>
              <a:t>Required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942832" y="3401568"/>
            <a:ext cx="1097280" cy="274320"/>
          </a:xfrm>
          <a:prstGeom prst="rect">
            <a:avLst/>
          </a:prstGeom>
          <a:noFill/>
          <a:solidFill>
            <a:srgbClr val="FFFFFF"/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378610"/>
                </a:solidFill>
              </a:rPr>
              <a:t>Completed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93192" y="3675888"/>
            <a:ext cx="1417320" cy="274320"/>
          </a:xfrm>
          <a:prstGeom prst="rect">
            <a:avLst/>
          </a:prstGeom>
          <a:noFill/>
          <a:solidFill>
            <a:srgbClr val="F2F2F2"/>
          </a:solidFill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F497D"/>
                </a:solidFill>
              </a:rPr>
              <a:t>Docker &amp; Container
Scanning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810512" y="3675888"/>
            <a:ext cx="2560320" cy="274320"/>
          </a:xfrm>
          <a:prstGeom prst="rect">
            <a:avLst/>
          </a:prstGeom>
          <a:noFill/>
          <a:solidFill>
            <a:srgbClr val="F2F2F2"/>
          </a:solidFill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000000"/>
                </a:solidFill>
              </a:rPr>
              <a:t>Securely stores and manages Docker images and scans for vulnerabilities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370832" y="3675888"/>
            <a:ext cx="3291840" cy="274320"/>
          </a:xfrm>
          <a:prstGeom prst="rect">
            <a:avLst/>
          </a:prstGeom>
          <a:noFill/>
          <a:solidFill>
            <a:srgbClr val="F2F2F2"/>
          </a:solidFill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F3764"/>
                </a:solidFill>
              </a:rPr>
              <a:t>Jrog
Fortify / CheckMarx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662672" y="3675888"/>
            <a:ext cx="1280160" cy="274320"/>
          </a:xfrm>
          <a:prstGeom prst="rect">
            <a:avLst/>
          </a:prstGeom>
          <a:noFill/>
          <a:solidFill>
            <a:srgbClr val="F2F2F2"/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</a:rPr>
              <a:t>Required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942832" y="3675888"/>
            <a:ext cx="1097280" cy="274320"/>
          </a:xfrm>
          <a:prstGeom prst="rect">
            <a:avLst/>
          </a:prstGeom>
          <a:noFill/>
          <a:solidFill>
            <a:srgbClr val="F2F2F2"/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378610"/>
                </a:solidFill>
              </a:rPr>
              <a:t>Completed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93192" y="3950208"/>
            <a:ext cx="1417320" cy="274320"/>
          </a:xfrm>
          <a:prstGeom prst="rect">
            <a:avLst/>
          </a:prstGeom>
          <a:noFill/>
          <a:solidFill>
            <a:srgbClr val="FFFFFF"/>
          </a:solidFill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F497D"/>
                </a:solidFill>
              </a:rPr>
              <a:t>Application Hosting
&amp; Load Balancing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810512" y="3950208"/>
            <a:ext cx="2560320" cy="274320"/>
          </a:xfrm>
          <a:prstGeom prst="rect">
            <a:avLst/>
          </a:prstGeom>
          <a:noFill/>
          <a:solidFill>
            <a:srgbClr val="FFFFFF"/>
          </a:solidFill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000000"/>
                </a:solidFill>
              </a:rPr>
              <a:t>Frontend dashboard (Streamlit) + backend pipeline hosting and load management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370832" y="3950208"/>
            <a:ext cx="3291840" cy="274320"/>
          </a:xfrm>
          <a:prstGeom prst="rect">
            <a:avLst/>
          </a:prstGeom>
          <a:noFill/>
          <a:solidFill>
            <a:srgbClr val="FFFFFF"/>
          </a:solidFill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F3764"/>
                </a:solidFill>
              </a:rPr>
              <a:t>Load Balancer Controller
Streamlit (frontend UI)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662672" y="3950208"/>
            <a:ext cx="1280160" cy="274320"/>
          </a:xfrm>
          <a:prstGeom prst="rect">
            <a:avLst/>
          </a:prstGeom>
          <a:noFill/>
          <a:solidFill>
            <a:srgbClr val="FFFFFF"/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</a:rPr>
              <a:t>Required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942832" y="3950208"/>
            <a:ext cx="1097280" cy="274320"/>
          </a:xfrm>
          <a:prstGeom prst="rect">
            <a:avLst/>
          </a:prstGeom>
          <a:noFill/>
          <a:solidFill>
            <a:srgbClr val="FFFFFF"/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378610"/>
                </a:solidFill>
              </a:rPr>
              <a:t>Completed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93192" y="4224528"/>
            <a:ext cx="1417320" cy="274320"/>
          </a:xfrm>
          <a:prstGeom prst="rect">
            <a:avLst/>
          </a:prstGeom>
          <a:noFill/>
          <a:solidFill>
            <a:srgbClr val="F2F2F2"/>
          </a:solidFill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F497D"/>
                </a:solidFill>
              </a:rPr>
              <a:t>Infra as Code &amp;
Monitoring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810512" y="4224528"/>
            <a:ext cx="2560320" cy="274320"/>
          </a:xfrm>
          <a:prstGeom prst="rect">
            <a:avLst/>
          </a:prstGeom>
          <a:noFill/>
          <a:solidFill>
            <a:srgbClr val="F2F2F2"/>
          </a:solidFill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000000"/>
                </a:solidFill>
              </a:rPr>
              <a:t>Monitor pipeline runs, audit job tracking, infra metrics and consumption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370832" y="4224528"/>
            <a:ext cx="3291840" cy="274320"/>
          </a:xfrm>
          <a:prstGeom prst="rect">
            <a:avLst/>
          </a:prstGeom>
          <a:noFill/>
          <a:solidFill>
            <a:srgbClr val="F2F2F2"/>
          </a:solidFill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F3764"/>
                </a:solidFill>
              </a:rPr>
              <a:t>Application Insights, Azure Monitor
Databricks Job Monitoring, Terraform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662672" y="4224528"/>
            <a:ext cx="1280160" cy="274320"/>
          </a:xfrm>
          <a:prstGeom prst="rect">
            <a:avLst/>
          </a:prstGeom>
          <a:noFill/>
          <a:solidFill>
            <a:srgbClr val="F2F2F2"/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</a:rPr>
              <a:t>Required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942832" y="4224528"/>
            <a:ext cx="1097280" cy="274320"/>
          </a:xfrm>
          <a:prstGeom prst="rect">
            <a:avLst/>
          </a:prstGeom>
          <a:noFill/>
          <a:solidFill>
            <a:srgbClr val="F2F2F2"/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378610"/>
                </a:solidFill>
              </a:rPr>
              <a:t>Completed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37160" y="4544568"/>
            <a:ext cx="9902952" cy="256032"/>
          </a:xfrm>
          <a:prstGeom prst="rect">
            <a:avLst/>
          </a:prstGeom>
          <a:noFill/>
          <a:solidFill>
            <a:srgbClr val="FFFFFF"/>
          </a:solidFill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650" b="0" i="1">
                <a:solidFill>
                  <a:srgbClr val="606060"/>
                </a:solidFill>
              </a:rPr>
              <a:t>★ Items marked are additional to the approved parallel-team stack and require separate provisioning sign-off.  All other items align with already-approved services.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