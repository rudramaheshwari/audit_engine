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12191695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CPR Transformation — HCBI Risk Review</a:t>
            </a:r>
          </a:p>
          <a:p>
            <a:pPr algn="l"/>
            <a:r>
              <a:rPr sz="2200" b="0">
                <a:solidFill>
                  <a:srgbClr val="BFD3EA"/>
                </a:solidFill>
                <a:latin typeface="Calibri"/>
              </a:rPr>
              <a:t>AI-Driven FCPA / TPI Due-Diligence Audit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Solution Architecture — Leadership Overview</a:t>
            </a:r>
          </a:p>
          <a:p>
            <a:pPr algn="l"/>
            <a:r>
              <a:rPr sz="1300" b="0">
                <a:solidFill>
                  <a:srgbClr val="9FB8D4"/>
                </a:solidFill>
                <a:latin typeface="Calibri"/>
              </a:rPr>
              <a:t>Multi-agent · Retrieval-Augmented · Databricks + Azure OpenAI GPT-5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A8C4"/>
                </a:solidFill>
                <a:latin typeface="Calibri"/>
              </a:rPr>
              <a:t>Johnson &amp; Johnson · Global Audit &amp; Assurance (CA&amp;I)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End-to-End Solution Architecture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The complete pipeline — from data sources to the final risk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pic>
        <p:nvPicPr>
          <p:cNvPr id="5" name="Picture 4" descr="architectu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11" y="1051560"/>
            <a:ext cx="10324871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172200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6 layers · 8-agent LangGraph pipeline · per-scope transactional analysis — each layer is broken down in the following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What It Does — At a Glance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Automating FCPA compliance review of TPI questionnaires and transactional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21031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The Problem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428+ audit questions per auditor, reviewed manually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Evidence spread across policies, SOPs, emails, Excel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48 FCPA scope areas, each with distinct controls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Transactional red-flags hidden in millions of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566160" cy="2103120"/>
          </a:xfrm>
          <a:prstGeom prst="roundRect">
            <a:avLst/>
          </a:prstGeom>
          <a:solidFill>
            <a:srgbClr val="1F5F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The Solution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8 specialised AI agents in a governed pipeline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Retrieval-augmented against policy + evidence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Per-scope transactional analytics on Databricks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One consistent, cited risk workbook per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188720"/>
            <a:ext cx="3749039" cy="2103120"/>
          </a:xfrm>
          <a:prstGeom prst="roundRect">
            <a:avLst/>
          </a:prstGeom>
          <a:solidFill>
            <a:srgbClr val="7B2D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The Value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Days of manual review → minutes, at scale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Consistent, evidence-cited risk classification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Full traceability — every finding sourced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Guardrailed &amp; validated for audit defensibility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2651760" cy="822960"/>
          </a:xfrm>
          <a:prstGeom prst="roundRect">
            <a:avLst/>
          </a:prstGeom>
          <a:solidFill>
            <a:srgbClr val="0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48
FCPA scope areas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657600"/>
            <a:ext cx="2651760" cy="822960"/>
          </a:xfrm>
          <a:prstGeom prst="roundRect">
            <a:avLst/>
          </a:prstGeom>
          <a:solidFill>
            <a:srgbClr val="5B2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
AI agents in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657600"/>
            <a:ext cx="2651760" cy="822960"/>
          </a:xfrm>
          <a:prstGeom prst="roundRect">
            <a:avLst/>
          </a:prstGeom>
          <a:solidFill>
            <a:srgbClr val="14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
vector indexes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657600"/>
            <a:ext cx="2743200" cy="822960"/>
          </a:xfrm>
          <a:prstGeom prst="roundRect">
            <a:avLst/>
          </a:prstGeom>
          <a:solidFill>
            <a:srgbClr val="2D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
Delta transactional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09160"/>
            <a:ext cx="11247120" cy="1371600"/>
          </a:xfrm>
          <a:prstGeom prst="roundRect">
            <a:avLst/>
          </a:prstGeom>
          <a:solidFill>
            <a:srgbClr val="3344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How a single audit runs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Ingest policies &amp; evidence once (startup) → 4 Databricks Vector Search indexes.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For each question: identify scope → retrieve evidence in parallel → evaluate → classify → write a cited risk row.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After all questions: run per-scope transactional analysis across all 48 scopes → append findings + samples.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Output: a two-sheet Excel workbook (Risk Detail + Scope Summary), colour-coded by risk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The Six Layers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How the platform is structured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256032" cy="7498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143000"/>
            <a:ext cx="10789920" cy="749808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D0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b="1" sz="1400">
                <a:solidFill>
                  <a:srgbClr val="1E3A5F"/>
                </a:solidFill>
                <a:latin typeface="Calibri"/>
              </a:rPr>
              <a:t>1 · Input Layer</a:t>
            </a:r>
          </a:p>
          <a:p>
            <a:r>
              <a:rPr sz="1050">
                <a:solidFill>
                  <a:srgbClr val="334455"/>
                </a:solidFill>
                <a:latin typeface="Calibri"/>
              </a:rPr>
              <a:t>Questionnaires · Policies &amp; Evidence · Reference files · Transactional Delta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56032" cy="749808"/>
          </a:xfrm>
          <a:prstGeom prst="rect">
            <a:avLst/>
          </a:prstGeom>
          <a:solidFill>
            <a:srgbClr val="1F5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789920" cy="749808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D0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b="1" sz="1400">
                <a:solidFill>
                  <a:srgbClr val="1F5F3A"/>
                </a:solidFill>
                <a:latin typeface="Calibri"/>
              </a:rPr>
              <a:t>2 · Document Intelligence</a:t>
            </a:r>
          </a:p>
          <a:p>
            <a:r>
              <a:rPr sz="1050">
                <a:solidFill>
                  <a:srgbClr val="334455"/>
                </a:solidFill>
                <a:latin typeface="Calibri"/>
              </a:rPr>
              <a:t>Universal loader · OCR / PDF / Office extractors · chunker · embedder (startup ingestion)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256032" cy="749808"/>
          </a:xfrm>
          <a:prstGeom prst="rect">
            <a:avLst/>
          </a:prstGeom>
          <a:solidFill>
            <a:srgbClr val="0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880360"/>
            <a:ext cx="10789920" cy="749808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D0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b="1" sz="1400">
                <a:solidFill>
                  <a:srgbClr val="0D3B6E"/>
                </a:solidFill>
                <a:latin typeface="Calibri"/>
              </a:rPr>
              <a:t>3 · Databricks Vector Search</a:t>
            </a:r>
          </a:p>
          <a:p>
            <a:r>
              <a:rPr sz="1050">
                <a:solidFill>
                  <a:srgbClr val="334455"/>
                </a:solidFill>
                <a:latin typeface="Calibri"/>
              </a:rPr>
              <a:t>4 v2 indexes · text-embedding-3-large (3072-dim) · scope &amp; auditor filters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256032" cy="749808"/>
          </a:xfrm>
          <a:prstGeom prst="rect">
            <a:avLst/>
          </a:prstGeom>
          <a:solidFill>
            <a:srgbClr val="5B2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749040"/>
            <a:ext cx="10789920" cy="749808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D0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b="1" sz="1400">
                <a:solidFill>
                  <a:srgbClr val="5B2A7A"/>
                </a:solidFill>
                <a:latin typeface="Calibri"/>
              </a:rPr>
              <a:t>4 · FastAPI Layer</a:t>
            </a:r>
          </a:p>
          <a:p>
            <a:r>
              <a:rPr sz="1050">
                <a:solidFill>
                  <a:srgbClr val="334455"/>
                </a:solidFill>
                <a:latin typeface="Calibri"/>
              </a:rPr>
              <a:t>Async /audit · /status · /health · /ready · X-API-Key · rate limiting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17720"/>
            <a:ext cx="256032" cy="749808"/>
          </a:xfrm>
          <a:prstGeom prst="rect">
            <a:avLst/>
          </a:prstGeom>
          <a:solidFill>
            <a:srgbClr val="2D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617720"/>
            <a:ext cx="10789920" cy="749808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D0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b="1" sz="1400">
                <a:solidFill>
                  <a:srgbClr val="2D4A1E"/>
                </a:solidFill>
                <a:latin typeface="Calibri"/>
              </a:rPr>
              <a:t>5 · LangGraph 8-Agent Pipeline</a:t>
            </a:r>
          </a:p>
          <a:p>
            <a:r>
              <a:rPr sz="1050">
                <a:solidFill>
                  <a:srgbClr val="334455"/>
                </a:solidFill>
                <a:latin typeface="Calibri"/>
              </a:rPr>
              <a:t>Phase 0 scope ID → Phase A parallel retrieval → Phase B sequential analysis (per question)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86400"/>
            <a:ext cx="256032" cy="749808"/>
          </a:xfrm>
          <a:prstGeom prst="rect">
            <a:avLst/>
          </a:prstGeom>
          <a:solidFill>
            <a:srgbClr val="7B2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5486400"/>
            <a:ext cx="10789920" cy="749808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D0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b="1" sz="1400">
                <a:solidFill>
                  <a:srgbClr val="7B2D00"/>
                </a:solidFill>
                <a:latin typeface="Calibri"/>
              </a:rPr>
              <a:t>6 · Phase 3 + Output</a:t>
            </a:r>
          </a:p>
          <a:p>
            <a:r>
              <a:rPr sz="1050">
                <a:solidFill>
                  <a:srgbClr val="334455"/>
                </a:solidFill>
                <a:latin typeface="Calibri"/>
              </a:rPr>
              <a:t>Per-scope transactional analysis (6 concurrent) → Excel Risk Detail + Scope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Layer 1 · Input Layer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Everything the platform reads — all on Databricks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Questionnaire Data  ·  Delta Tables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Planning Questionnaire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IDR Questionnaire (data_and_report_request — full question text)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Merged into one unified question set per audit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Loaded by AUDITOR_ID (e.g. Sam_1)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1F5F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Policy &amp; Evidence Documents  ·  Volumes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HCBI Global Policy — TV-POL-02257 (115pp, image PDF)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TPI Due-Diligence Policies — TPEC · Red Flag · SOP · BGS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CPR Scope Area Policy — 48 scope areas (Excel)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Supporting Docs per auditor — PDF · Office · Web · 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486400" cy="2286000"/>
          </a:xfrm>
          <a:prstGeom prst="roundRect">
            <a:avLst/>
          </a:prstGeom>
          <a:solidFill>
            <a:srgbClr val="0D3B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Transactional Data  ·  Delta Tables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Payments Dashboard Summary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Credit Memo &amp; Returns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Revenue Dashboard Summary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Queried per scope in Phase 3 (read-only)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486400" cy="2286000"/>
          </a:xfrm>
          <a:prstGeom prst="roundRect">
            <a:avLst/>
          </a:prstGeom>
          <a:solidFill>
            <a:srgbClr val="3344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Reference Files  ·  Volumes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TPI Inventory (TPI_Inventory_Final_Output.xlsx)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HCC GL Account Map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Available as reference data for enrichment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(Auto-downloaded from the Databricks volume when needed)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Layer 2 · Document Intelligence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Turning raw documents into searchable, scope-tagged knowledge — once, at startup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743200" cy="42062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Universal Document Loader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Routes by file format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Recursive directory walk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Tags DocumentType: GLOBAL_POLICY / TPI_POLICY / SUPPORTING_DOC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3108960"/>
            <a:ext cx="320040" cy="457200"/>
          </a:xfrm>
          <a:prstGeom prst="rightArrow">
            <a:avLst/>
          </a:prstGeom>
          <a:solidFill>
            <a:srgbClr val="33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234440"/>
            <a:ext cx="2743200" cy="4206240"/>
          </a:xfrm>
          <a:prstGeom prst="roundRect">
            <a:avLst/>
          </a:prstGeom>
          <a:solidFill>
            <a:srgbClr val="1F5F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Format Extractors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OCR — Tesseract fallback + Azure Document Intelligence (prebuilt-read)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PDF — pdfplumber text layer; PyMuPDF + OCR for image pages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Office / Web / Mail — python-pptx · python-docx · openpyxl · BeautifulSoup · extract-msg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00800" y="3108960"/>
            <a:ext cx="320040" cy="457200"/>
          </a:xfrm>
          <a:prstGeom prst="rightArrow">
            <a:avLst/>
          </a:prstGeom>
          <a:solidFill>
            <a:srgbClr val="33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234440"/>
            <a:ext cx="2331720" cy="4206240"/>
          </a:xfrm>
          <a:prstGeom prst="roundRect">
            <a:avLst/>
          </a:prstGeom>
          <a:solidFill>
            <a:srgbClr val="146A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Section-Aware Chunker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≤ 800 tokens · 100-token overlap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Builds DocumentChunk: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scope_id · auditor_folder · source · metadata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25712" y="3108960"/>
            <a:ext cx="320040" cy="457200"/>
          </a:xfrm>
          <a:prstGeom prst="rightArrow">
            <a:avLst/>
          </a:prstGeom>
          <a:solidFill>
            <a:srgbClr val="33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64040" y="1234440"/>
            <a:ext cx="2240280" cy="4206240"/>
          </a:xfrm>
          <a:prstGeom prst="roundRect">
            <a:avLst/>
          </a:prstGeom>
          <a:solidFill>
            <a:srgbClr val="0D3B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Embedder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Azure OpenAI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text-embedding-3-large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3072 dimensions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532120"/>
            <a:ext cx="11247120" cy="777240"/>
          </a:xfrm>
          <a:prstGeom prst="roundRect">
            <a:avLst/>
          </a:prstGeom>
          <a:solidFill>
            <a:srgbClr val="7B2D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Special: CPR Scope Extractor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FFFFFF"/>
                </a:solidFill>
                <a:latin typeface="Calibri"/>
              </a:rPr>
              <a:t>• 48-sheet Excel → scope_id mapping · 3 chunk types per scope (risk_profile · audit_guidance · sampling_guidance) · 144 chunks total.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Layer 3 · Databricks Vector Search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Four v2 indexes — the retrieval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486400" cy="21945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hcbi_policy_index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HCBI Global Policy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scope_id = 'global'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Queried by the HCBI Policy Agent (top-k = 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86400" cy="2194560"/>
          </a:xfrm>
          <a:prstGeom prst="roundRect">
            <a:avLst/>
          </a:prstGeom>
          <a:solidFill>
            <a:srgbClr val="1F5F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tpi_due_diligence_index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TPI local policies (SOPs, guidelines)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scope_id per policy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Queried only when scope = DUE_DILIGENCE (top-k = 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11880"/>
            <a:ext cx="5486400" cy="2194560"/>
          </a:xfrm>
          <a:prstGeom prst="roundRect">
            <a:avLst/>
          </a:prstGeom>
          <a:solidFill>
            <a:srgbClr val="5B2A7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auditor_supporting_docs_index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Evidence documents — all auditors in one index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auditor_folder column (Sam_1 / Kaitlyn_1 / Naeem_1)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Filtered by AUDITOR_ID at query time (top-k = 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11880"/>
            <a:ext cx="5486400" cy="2194560"/>
          </a:xfrm>
          <a:prstGeom prst="roundRect">
            <a:avLst/>
          </a:prstGeom>
          <a:solidFill>
            <a:srgbClr val="0D3B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fcpa_scope_policy_index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144 chunks · 48 scope areas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3 chunk types: risk_profile · audit_guidance · sampling_guidance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Drives scope-aware retrieval + Phase 3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All indexes embedded with text-embedding-3-large (3072-dim); refreshed in place via reingest_scope_policy_index.py.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Layer 4 · FastAPI Service Layer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How the pipeline is exposed and protected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486400" cy="2286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Endpoints (async)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POST /audit → AuditRequest → job_id (background task)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GET /status/{job_id} → AuditResponse when complete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GET /health → liveness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GET /ready → readiness (index + LLM connectivity)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86400" cy="2286000"/>
          </a:xfrm>
          <a:prstGeom prst="roundRect">
            <a:avLst/>
          </a:prstGeom>
          <a:solidFill>
            <a:srgbClr val="7B2D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Security &amp; Controls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X-API-Key middleware — 401 on missing/invalid key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Input sanitization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Rate limit: 10 requests / minute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Typed request/response (Pydantic) with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11247120" cy="2011680"/>
          </a:xfrm>
          <a:prstGeom prst="roundRect">
            <a:avLst/>
          </a:prstGeom>
          <a:solidFill>
            <a:srgbClr val="3344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Why async matters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The audit is a long-running job — the API returns a job_id immediately and runs the pipeline in the background.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Leadership/clients poll /status for progress and collect the workbook when complete.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Health &amp; readiness probes make it deployment-ready (containers, load balancers, orchestration).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Phase 0 · Scope Identification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Routing every question to the right FCPA scope area(s)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486400" cy="2743200"/>
          </a:xfrm>
          <a:prstGeom prst="roundRect">
            <a:avLst/>
          </a:prstGeom>
          <a:solidFill>
            <a:srgbClr val="3A1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Scope Identifier Agent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Reads question + response + follow-ups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Matches against all 48 FCPA scope areas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Outputs: Primary Scope · Additional Scopes · Reasoning · Confidence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Retries once if no scope is returned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86400" cy="2743200"/>
          </a:xfrm>
          <a:prstGeom prst="roundRect">
            <a:avLst/>
          </a:prstGeom>
          <a:solidFill>
            <a:srgbClr val="0D3B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Three-Tier Confidence Routing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≥ 0.70  →  use the identified scope(s) as-is (tight retrieval)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0.50 – 0.69  →  use scope(s) + additional scopes (broader net)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&lt; 0.50 or none  →  ANY_SCOPE: unfiltered retrieval across all scopes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Never forces a wrong scope — low confidence widens the search instead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47120" cy="1737360"/>
          </a:xfrm>
          <a:prstGeom prst="roundRect">
            <a:avLst/>
          </a:prstGeom>
          <a:solidFill>
            <a:srgbClr val="3344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Why it matters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Scope routing decides which policy guidance and controls each question is checked against — accuracy here drives the whole review.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The graded fallback protects recall: uncertain questions are searched broadly rather than mis-filed under a single scope.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Phase A · Parallel Retrieval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Three retrieval agents run simultaneously (asyncio.gather)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57600" cy="33832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HCBI Policy Agent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Searches hcbi_policy_index (scope_id = global)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Multi-Query Retrieval (n = 2 phrasings)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top-k = 5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Dedup by chunk_id, keep best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234440"/>
            <a:ext cx="3657600" cy="3383280"/>
          </a:xfrm>
          <a:prstGeom prst="roundRect">
            <a:avLst/>
          </a:prstGeom>
          <a:solidFill>
            <a:srgbClr val="1F5F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Policy Knowledge Agent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Tool 1 (always): scope policy → fcpa_scope_policy_index (top-k = 2)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Tool 2 (DUE_DILIGENCE only): tpi_due_diligence_index (top-k = 5)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ANY_SCOPE → unfiltered, widened retrieval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MQR n =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3657600" cy="3383280"/>
          </a:xfrm>
          <a:prstGeom prst="roundRect">
            <a:avLst/>
          </a:prstGeom>
          <a:solidFill>
            <a:srgbClr val="5B2A7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Supporting Docs Agent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Searches auditor_supporting_docs_index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Filtered: auditor_folder = AUDITOR_ID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MQR n = 3 · candidate pool = top-k × 4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BM25 Reranker — RRF fusion for exact-name matches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00600"/>
            <a:ext cx="11247120" cy="1143000"/>
          </a:xfrm>
          <a:prstGeom prst="roundRect">
            <a:avLst/>
          </a:prstGeom>
          <a:solidFill>
            <a:srgbClr val="3344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Design principle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Retrieval agents ONLY gather evidence — they never assign risk. Running them in parallel keeps latency low; reranking corrects semantic misses on exact document names.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Phase B · Sequential Analysis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From gathered evidence to a written, classified risk — per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34440"/>
            <a:ext cx="9966960" cy="841248"/>
          </a:xfrm>
          <a:prstGeom prst="roundRect">
            <a:avLst/>
          </a:prstGeom>
          <a:solidFill>
            <a:srgbClr val="146A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Conflict Detector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Cross-row semantic similarity (threshold 0.90). Divergent responses → Further Review flag.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52160" y="2084832"/>
            <a:ext cx="365760" cy="146304"/>
          </a:xfrm>
          <a:prstGeom prst="downArrow">
            <a:avLst/>
          </a:prstGeom>
          <a:solidFill>
            <a:srgbClr val="33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240280"/>
            <a:ext cx="9966960" cy="841248"/>
          </a:xfrm>
          <a:prstGeom prst="roundRect">
            <a:avLst/>
          </a:prstGeom>
          <a:solidFill>
            <a:srgbClr val="3A1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Risk Evaluation Agent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GPT-5. Identifies compliance gaps, assesses impact, sets transactional_intent flag.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52160" y="3090672"/>
            <a:ext cx="365760" cy="146304"/>
          </a:xfrm>
          <a:prstGeom prst="downArrow">
            <a:avLst/>
          </a:prstGeom>
          <a:solidFill>
            <a:srgbClr val="33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3246120"/>
            <a:ext cx="9966960" cy="841248"/>
          </a:xfrm>
          <a:prstGeom prst="roundRect">
            <a:avLst/>
          </a:prstGeom>
          <a:solidFill>
            <a:srgbClr val="B55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Transactional Data Agent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NL-to-SQL — CONDITIONAL. Runs only when a real quantitative signal is present.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4096512"/>
            <a:ext cx="365760" cy="146304"/>
          </a:xfrm>
          <a:prstGeom prst="downArrow">
            <a:avLst/>
          </a:prstGeom>
          <a:solidFill>
            <a:srgbClr val="33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4251960"/>
            <a:ext cx="9966960" cy="841248"/>
          </a:xfrm>
          <a:prstGeom prst="roundRect">
            <a:avLst/>
          </a:prstGeom>
          <a:solidFill>
            <a:srgbClr val="0D3B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Risk Classifier Agent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GPT-5. Risk Type · Risk Category · evidence verdict · scope determination.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52160" y="5102352"/>
            <a:ext cx="365760" cy="146304"/>
          </a:xfrm>
          <a:prstGeom prst="downArrow">
            <a:avLst/>
          </a:prstGeom>
          <a:solidFill>
            <a:srgbClr val="33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5257800"/>
            <a:ext cx="9966960" cy="841248"/>
          </a:xfrm>
          <a:prstGeom prst="roundRect">
            <a:avLst/>
          </a:prstGeom>
          <a:solidFill>
            <a:srgbClr val="2D4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Risk Writer Agent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GPT-5. Writes final cited fields; incremental Excel save per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Phase 3 · Transactional Data Analysis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AI-driven, per scope — all 48 scopes, 6 concurrent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16002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Setup (once)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Load CPR guidance for all 48 scopes (risk profile · red flags · data calculations · sampling rationale · expected sample size)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Pull shared transactional data summary once (schema + top aggregates)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1600200"/>
          </a:xfrm>
          <a:prstGeom prst="roundRect">
            <a:avLst/>
          </a:prstGeom>
          <a:solidFill>
            <a:srgbClr val="1F5F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Per scope · Steps 1–2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LLM converts that scope's Data Calculations into SQL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Uses its own FCPA intelligence when guidance is thin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Executes → scope-specific computed data (try_cast safe, LIMIT-capped)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5486400" cy="1600200"/>
          </a:xfrm>
          <a:prstGeom prst="roundRect">
            <a:avLst/>
          </a:prstGeom>
          <a:solidFill>
            <a:srgbClr val="3A1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Per scope · Step 3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LLM judges ONE consolidated assessment for the scope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Risk Type · Risk Category · Description · Rationale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Multiple concerns merged into a single 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486400" cy="1600200"/>
          </a:xfrm>
          <a:prstGeom prst="roundRect">
            <a:avLst/>
          </a:prstGeom>
          <a:solidFill>
            <a:srgbClr val="B55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Per scope · Step 4 (if risk)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Pull samples: SELECT * (full transaction row)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LIMIT = Expected Sample Size (col K) + 5 buffer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Exact source table taken from the query FROM clause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1247120" cy="1280160"/>
          </a:xfrm>
          <a:prstGeom prst="roundRect">
            <a:avLst/>
          </a:prstGeom>
          <a:solidFill>
            <a:srgbClr val="7B2D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Result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One RiskOutput row per scope (~48 rows). No-Risk scopes still emit a row (with no samples) so every scope is visibly covered.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SQL safety throughout: SELECT-only, try_cast for STRING-typed numerics, deterministic LIMIT override. Scopes run 6-at-a-time for speed.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Output &amp; Reporting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One workbook per audit — cited, classified, colour-coded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486400" cy="32004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Output A · Risk Detail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Risk Title · Risk Type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Risk Category · Risk Category Reasoning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Risk Rationale · Risk Description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Scope Area · Scope Area Reasoning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Evidence Explanation · Calculation Evidence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Samples · Source Details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Question · Response · Follow-up Q /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86400" cy="3200400"/>
          </a:xfrm>
          <a:prstGeom prst="roundRect">
            <a:avLst/>
          </a:prstGeom>
          <a:solidFill>
            <a:srgbClr val="1F5F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Output B · Scope Summary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Counts: Potential Risk · Further Review · No Risk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(resolved by header name — robust to column changes)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Top compliance gaps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Average risk-category score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Overall risk rating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17720"/>
            <a:ext cx="11247120" cy="1325880"/>
          </a:xfrm>
          <a:prstGeom prst="roundRect">
            <a:avLst/>
          </a:prstGeom>
          <a:solidFill>
            <a:srgbClr val="3344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Row colour by Risk Category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High = red   ·   Medium / Low = yellow   ·   No Risk = no fill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Two independent axes: Risk Type (evidence) and Risk Category (severity). A 6-rule bifurcation with anchors keeps them consistent.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Trust &amp; Control — Defence in Depth</a:t>
            </a:r>
          </a:p>
          <a:p>
            <a:r>
              <a:rPr sz="1200">
                <a:solidFill>
                  <a:srgbClr val="BFD3EA"/>
                </a:solidFill>
                <a:latin typeface="Calibri"/>
              </a:rPr>
              <a:t>Why the output is audit-defensible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Johnson &amp; Johnson — Global Audit &amp; Assurance (CA&amp;I)   |   HCBI Risk Review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57600" cy="42062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Guardrails (prompt-level)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Universal G1–G6: no hallucination, no context echo, evidence boundary, format compliance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Read-only SQL — SELECT only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Retrieval agents never assign risk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N/A / blank / deflection → No Risk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Every citation must exist in retrieved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234440"/>
            <a:ext cx="3657600" cy="4206240"/>
          </a:xfrm>
          <a:prstGeom prst="roundRect">
            <a:avLst/>
          </a:prstGeom>
          <a:solidFill>
            <a:srgbClr val="1F5F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Validators (code-level)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Typed Pydantic schemas for every object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Bounded scores (0–1, 1–10), enums for controlled vocab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Vector-index &amp; table schema grounding (DESCRIBE)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Structured-output parsing with safe fallbacks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try_cast · deterministic LIMIT · echo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3657600" cy="4206240"/>
          </a:xfrm>
          <a:prstGeom prst="roundRect">
            <a:avLst/>
          </a:prstGeom>
          <a:solidFill>
            <a:srgbClr val="0D3B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76200" tIns="63500" bIns="5080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Metrics &amp; Thresholds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Scope confidence tiers: 0.70 / 0.50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Conflict similarity: 0.90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Risk score band: 1–10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Sample size: col K + 5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Concurrency 6 · retries 3 · rate limit 10/min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Full detail in docs/AI_Auditor_Guardrails_Validators_Metrics.docx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146304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68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BFD3EA"/>
                </a:solidFill>
                <a:latin typeface="Calibri"/>
              </a:rPr>
              <a:t>Scale — </a:t>
            </a:r>
            <a:r>
              <a:rPr sz="1400">
                <a:solidFill>
                  <a:srgbClr val="FFFFFF"/>
                </a:solidFill>
                <a:latin typeface="Calibri"/>
              </a:rPr>
              <a:t>One platform reviews hundreds of questions across 48 scope areas per audit — consistently.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64408"/>
            <a:ext cx="146304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186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BFD3EA"/>
                </a:solidFill>
                <a:latin typeface="Calibri"/>
              </a:rPr>
              <a:t>Evidence-first — </a:t>
            </a:r>
            <a:r>
              <a:rPr sz="1400">
                <a:solidFill>
                  <a:srgbClr val="FFFFFF"/>
                </a:solidFill>
                <a:latin typeface="Calibri"/>
              </a:rPr>
              <a:t>Every risk is grounded in retrieved policy and evidence, with source citations.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14215"/>
            <a:ext cx="146304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68496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BFD3EA"/>
                </a:solidFill>
                <a:latin typeface="Calibri"/>
              </a:rPr>
              <a:t>Data-driven — </a:t>
            </a:r>
            <a:r>
              <a:rPr sz="1400">
                <a:solidFill>
                  <a:srgbClr val="FFFFFF"/>
                </a:solidFill>
                <a:latin typeface="Calibri"/>
              </a:rPr>
              <a:t>Per-scope transactional analytics surface red-flags directly from the financial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764024"/>
            <a:ext cx="146304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71830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BFD3EA"/>
                </a:solidFill>
                <a:latin typeface="Calibri"/>
              </a:rPr>
              <a:t>Governed — </a:t>
            </a:r>
            <a:r>
              <a:rPr sz="1400">
                <a:solidFill>
                  <a:srgbClr val="FFFFFF"/>
                </a:solidFill>
                <a:latin typeface="Calibri"/>
              </a:rPr>
              <a:t>Layered guardrails, schema validation, and defined thresholds make findings defensible.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513832"/>
            <a:ext cx="146304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4681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BFD3EA"/>
                </a:solidFill>
                <a:latin typeface="Calibri"/>
              </a:rPr>
              <a:t>Deployable — </a:t>
            </a:r>
            <a:r>
              <a:rPr sz="1400">
                <a:solidFill>
                  <a:srgbClr val="FFFFFF"/>
                </a:solidFill>
                <a:latin typeface="Calibri"/>
              </a:rPr>
              <a:t>Async API, health probes, and in-place index refresh — production-ready.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