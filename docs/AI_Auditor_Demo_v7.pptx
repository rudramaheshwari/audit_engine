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AI AUDITOR  —  MULTI-AGENT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896344" cy="34747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0">
                <a:solidFill>
                  <a:srgbClr val="FFD5C2"/>
                </a:solidFill>
              </a:rPr>
              <a:t>Johnson &amp; Johnson   ·   TPI Due Diligence Compliance Automation   ·   Powered by LangGraph + Azure OpenAI GPT-5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62472"/>
            <a:ext cx="12188952" cy="27432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1492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FCPA Scopes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984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9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Vector 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Policy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5968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3,072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Embedding Dims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7460" y="6089904"/>
            <a:ext cx="2031492" cy="548640"/>
          </a:xfrm>
          <a:prstGeom prst="rect">
            <a:avLst/>
          </a:prstGeom>
          <a:solidFill>
            <a:srgbClr val="C440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GPT-5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LLM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What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408176"/>
            <a:ext cx="3892296" cy="4645152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</a:rPr>
              <a:t>An AI-native audit engine that automates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 manual TPI Due Diligence review process.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Auditors upload questionnaire Q&amp;A responses.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Eight specialised AI agents analyse every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question against three policy layers and the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auditor's own supporting evidence documents,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then produce a risk-classified, evidence-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backed Excel report — automatically.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Platform:         Databricks on Azure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LLM:                Azure OpenAI GPT-5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Orchestration:  LangGraph supervisor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Retrieval:          Databricks Vector Search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Output:             Excel (colour-coded)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4904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Challenges 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4904" y="1408176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review bottleneck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Hours per question, inconsistent across auditors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904" y="2071769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coverage gaps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global vs. local TPI policy conflicts missed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4904" y="2735362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evidence linkage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Findings not grounded in supporting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4904" y="3398955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Missing scope mapping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Questions not mapped to 48 FCPA audit scopes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4904" y="4062548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blind spot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No automated check on payments / revenue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4904" y="4726141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audit trail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Reasoning not captured; findings not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4904" y="5389734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Excel reporting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Time-consuming, error-prone, no risk colour-coding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640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  Value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1408176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8 specialised AI agents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Analyse every question across parallel phases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8640" y="2071769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3 policy layers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+ local TPI + FCPA scope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0" y="2735362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Hybrid retrieval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BM25 reranker fused with semantic vector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0" y="3398955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NL-to-SQL on 10 GLD dashboard tables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Disbursement · Payment · HCC · OTC · Pricing · Revenue · Travel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4062548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48 FCPA scopes covered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scope area analysed in 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8640" y="4726141"/>
            <a:ext cx="3892296" cy="663593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Evidence-backed findings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risk linked to source documents by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8640" y="5389734"/>
            <a:ext cx="3892296" cy="663593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Auto-generated Excel report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Colour-coded by risk category, incremental save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HOW IT WORKS  —  FROM MANUAL TO AI-DRIVEN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76656"/>
            <a:ext cx="11896344" cy="34747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0">
                <a:solidFill>
                  <a:srgbClr val="FFD5C2"/>
                </a:solidFill>
              </a:rPr>
              <a:t>Transforming hours of manual policy review into automated, evidence-backed, consistent risk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73184" y="1170432"/>
            <a:ext cx="2514600" cy="5468112"/>
          </a:xfrm>
          <a:prstGeom prst="rect">
            <a:avLst/>
          </a:prstGeom>
          <a:solidFill>
            <a:srgbClr val="8B2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46336" y="12252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05A28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207008"/>
            <a:ext cx="2039112" cy="347472"/>
          </a:xfrm>
          <a:prstGeom prst="rect">
            <a:avLst/>
          </a:prstGeom>
          <a:solidFill>
            <a:srgbClr val="8B2C08"/>
          </a:solidFill>
        </p:spPr>
        <p:txBody>
          <a:bodyPr wrap="square" anchor="ctr"/>
          <a:lstStyle/>
          <a:p>
            <a:pPr algn="l"/>
            <a:r>
              <a:rPr sz="1050" b="1">
                <a:solidFill>
                  <a:srgbClr val="FFFFFF"/>
                </a:solidFill>
              </a:rPr>
              <a:t>Key Benefits</a:t>
            </a:r>
          </a:p>
          <a:p>
            <a:pPr algn="l"/>
            <a:r>
              <a:rPr sz="1050" b="1">
                <a:solidFill>
                  <a:srgbClr val="FFFFFF"/>
                </a:solidFill>
              </a:rPr>
              <a:t>and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46336" y="1645920"/>
            <a:ext cx="2368296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46336" y="171907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175564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80%+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202996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Time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223113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Audit questions processed
in minutes, not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6336" y="295351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299008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326440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Policy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346557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HCBI + local TPI + FCPA
scope checked every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6336" y="418795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422452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449884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Evidence Linkage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470001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Every finding grounded in
actual source documents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46336" y="5422392"/>
            <a:ext cx="2368296" cy="1197864"/>
          </a:xfrm>
          <a:prstGeom prst="rect">
            <a:avLst/>
          </a:prstGeom>
          <a:solidFill>
            <a:srgbClr val="9E3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5458968"/>
            <a:ext cx="2295144" cy="31089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5733288"/>
            <a:ext cx="2295144" cy="219456"/>
          </a:xfrm>
          <a:prstGeom prst="rect">
            <a:avLst/>
          </a:prstGeom>
          <a:solidFill>
            <a:srgbClr val="9E320A"/>
          </a:solidFill>
        </p:spPr>
        <p:txBody>
          <a:bodyPr wrap="square" anchor="ctr"/>
          <a:lstStyle/>
          <a:p>
            <a:pPr algn="l"/>
            <a:r>
              <a:rPr sz="900" b="1">
                <a:solidFill>
                  <a:srgbClr val="F5CAB8"/>
                </a:solidFill>
              </a:rPr>
              <a:t>Scopes Analysed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5934456"/>
            <a:ext cx="2295144" cy="630936"/>
          </a:xfrm>
          <a:prstGeom prst="rect">
            <a:avLst/>
          </a:prstGeom>
          <a:solidFill>
            <a:srgbClr val="9E320A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F5CAB8"/>
                </a:solidFill>
              </a:rPr>
              <a:t>Full transactional check
across all FCPA scope areas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1170432"/>
            <a:ext cx="9180576" cy="27432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7744" y="1179576"/>
            <a:ext cx="256032" cy="256032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170432"/>
            <a:ext cx="4572000" cy="27432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950" b="1">
                <a:solidFill>
                  <a:srgbClr val="C44018"/>
                </a:solidFill>
              </a:rPr>
              <a:t>As-Is  —  Current Manual Audit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1170432"/>
            <a:ext cx="2926080" cy="27432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r"/>
            <a:r>
              <a:rPr sz="800" b="0">
                <a:solidFill>
                  <a:srgbClr val="4A5568"/>
                </a:solidFill>
              </a:rPr>
              <a:t>Manual   ·   Hours per Question   ·   Inconsistent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2043684"/>
            <a:ext cx="9180576" cy="45720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1168" y="2043684"/>
            <a:ext cx="8721547" cy="457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Receive Q&amp;A</a:t>
            </a:r>
          </a:p>
        </p:txBody>
      </p:sp>
      <p:sp>
        <p:nvSpPr>
          <p:cNvPr id="35" name="Oval 34"/>
          <p:cNvSpPr/>
          <p:nvPr/>
        </p:nvSpPr>
        <p:spPr>
          <a:xfrm>
            <a:off x="801624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Questionnaire
question + auditor
response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1264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HCBI Lookup</a:t>
            </a:r>
          </a:p>
        </p:txBody>
      </p:sp>
      <p:sp>
        <p:nvSpPr>
          <p:cNvPr id="38" name="Oval 37"/>
          <p:cNvSpPr/>
          <p:nvPr/>
        </p:nvSpPr>
        <p:spPr>
          <a:xfrm>
            <a:off x="2331720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1264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search
115-page global
policy 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1360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Local Policy</a:t>
            </a:r>
          </a:p>
        </p:txBody>
      </p:sp>
      <p:sp>
        <p:nvSpPr>
          <p:cNvPr id="41" name="Oval 40"/>
          <p:cNvSpPr/>
          <p:nvPr/>
        </p:nvSpPr>
        <p:spPr>
          <a:xfrm>
            <a:off x="3861816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1360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Review TPEC,
Red Flag &amp; SOP
policy documents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1456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Evidence Read</a:t>
            </a:r>
          </a:p>
        </p:txBody>
      </p:sp>
      <p:sp>
        <p:nvSpPr>
          <p:cNvPr id="44" name="Oval 43"/>
          <p:cNvSpPr/>
          <p:nvPr/>
        </p:nvSpPr>
        <p:spPr>
          <a:xfrm>
            <a:off x="5391912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91456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read
through auditor
supporting docs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1552" y="1463040"/>
            <a:ext cx="1502664" cy="4206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Risk Judgement</a:t>
            </a:r>
          </a:p>
        </p:txBody>
      </p:sp>
      <p:sp>
        <p:nvSpPr>
          <p:cNvPr id="47" name="Oval 46"/>
          <p:cNvSpPr/>
          <p:nvPr/>
        </p:nvSpPr>
        <p:spPr>
          <a:xfrm>
            <a:off x="6922008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1552" y="2267712"/>
            <a:ext cx="1502664" cy="13898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Subjective risk
assessment based
on 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51648" y="1463040"/>
            <a:ext cx="1502664" cy="4206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1A1A2E"/>
                </a:solidFill>
              </a:rPr>
              <a:t>Excel Entry</a:t>
            </a:r>
          </a:p>
        </p:txBody>
      </p:sp>
      <p:sp>
        <p:nvSpPr>
          <p:cNvPr id="50" name="Oval 49"/>
          <p:cNvSpPr/>
          <p:nvPr/>
        </p:nvSpPr>
        <p:spPr>
          <a:xfrm>
            <a:off x="8452104" y="1901952"/>
            <a:ext cx="329184" cy="329184"/>
          </a:xfrm>
          <a:prstGeom prst="ellipse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51648" y="2267712"/>
            <a:ext cx="1502664" cy="13898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Manually populate
findings &amp; rationale
in Excel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3666744"/>
            <a:ext cx="9180576" cy="27432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" y="3712464"/>
            <a:ext cx="9180576" cy="2926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7744" y="373075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05A28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712464"/>
            <a:ext cx="5029200" cy="29260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1">
                <a:solidFill>
                  <a:srgbClr val="FFFFFF"/>
                </a:solidFill>
              </a:rPr>
              <a:t>To-Be  —  AI Multi-Agent System  (8 Agents  ·  Automated  ·  Evidence-Backed)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" y="4041648"/>
            <a:ext cx="1481328" cy="2596896"/>
          </a:xfrm>
          <a:prstGeom prst="rect">
            <a:avLst/>
          </a:prstGeom>
          <a:solidFill>
            <a:srgbClr val="F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1168" y="4041648"/>
            <a:ext cx="148132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4041648"/>
            <a:ext cx="148132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POST-B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" y="4297680"/>
            <a:ext cx="148132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Scope Identifier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" y="4517136"/>
            <a:ext cx="1389888" cy="1883664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Runs after RiskClassifier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risk_eval + classifier context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Assigns 1 of 48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FCPA audit scope areas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&lt;MODERATE → Scope Unclear – Manual Review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≥HIGH → additional scope areas added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6400800"/>
            <a:ext cx="148132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" y="6400800"/>
            <a:ext cx="148132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1 Agent</a:t>
            </a:r>
          </a:p>
        </p:txBody>
      </p:sp>
      <p:sp>
        <p:nvSpPr>
          <p:cNvPr id="63" name="Can 62"/>
          <p:cNvSpPr/>
          <p:nvPr/>
        </p:nvSpPr>
        <p:spPr>
          <a:xfrm>
            <a:off x="1719072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03120" y="4041648"/>
            <a:ext cx="2578608" cy="2596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03120" y="4041648"/>
            <a:ext cx="257860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03120" y="4041648"/>
            <a:ext cx="257860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3120" y="4297680"/>
            <a:ext cx="257860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Parallel Retrieval  (asyncio.gather)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67128" y="4517136"/>
            <a:ext cx="2487168" cy="1883664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HCBI Policy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hcbi_policy_index  top-k=5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MQR n=2 phrasings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Policy Knowledge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fcpa_scope_policy + DD policy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scope-filtered retrieval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Supporting Docs Agent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BM25 + RRF hybrid reranker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per-auditor folder filter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6400800"/>
            <a:ext cx="257860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0" y="6400800"/>
            <a:ext cx="25786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3 Agents  ·  run simultaneously</a:t>
            </a:r>
          </a:p>
        </p:txBody>
      </p:sp>
      <p:sp>
        <p:nvSpPr>
          <p:cNvPr id="71" name="Can 70"/>
          <p:cNvSpPr/>
          <p:nvPr/>
        </p:nvSpPr>
        <p:spPr>
          <a:xfrm>
            <a:off x="4718304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102352" y="4041648"/>
            <a:ext cx="2944368" cy="2596896"/>
          </a:xfrm>
          <a:prstGeom prst="rect">
            <a:avLst/>
          </a:prstGeom>
          <a:solidFill>
            <a:srgbClr val="F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02352" y="4041648"/>
            <a:ext cx="2944368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02352" y="4041648"/>
            <a:ext cx="2944368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2352" y="4297680"/>
            <a:ext cx="2944368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Sequential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4517136"/>
            <a:ext cx="2852928" cy="1883664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Conflict Detector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cross-row similarity &gt; 0.90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Evaluation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compliance gaps + risk level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sets transactional_intent flag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Classifier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9-field structured output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Writer Agent  (GPT-5)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  final fields + Excel save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02352" y="6400800"/>
            <a:ext cx="2944368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02352" y="6400800"/>
            <a:ext cx="294436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4 Agents  ·  run in sequence</a:t>
            </a:r>
          </a:p>
        </p:txBody>
      </p:sp>
      <p:sp>
        <p:nvSpPr>
          <p:cNvPr id="79" name="Can 78"/>
          <p:cNvSpPr/>
          <p:nvPr/>
        </p:nvSpPr>
        <p:spPr>
          <a:xfrm>
            <a:off x="8083296" y="5175504"/>
            <a:ext cx="347472" cy="329184"/>
          </a:xfrm>
          <a:prstGeom prst="can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67344" y="4041648"/>
            <a:ext cx="877824" cy="2596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67344" y="4041648"/>
            <a:ext cx="877824" cy="2560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67344" y="4041648"/>
            <a:ext cx="877824" cy="25603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7344" y="4297680"/>
            <a:ext cx="87782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FCPA Audit Excel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31352" y="4517136"/>
            <a:ext cx="786384" cy="1883664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Risk Title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Type &amp; Category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Risk Rationale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Scope Area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Evidence Reference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Source Documents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Transaction Samples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Colour-coded rows: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High=red  Med=yellow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67344" y="6400800"/>
            <a:ext cx="877824" cy="237744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67344" y="6400800"/>
            <a:ext cx="87782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44018"/>
                </a:solidFill>
              </a:rPr>
              <a:t>Auto-saved per question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1168" y="6181344"/>
            <a:ext cx="5049316" cy="20116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00" b="0">
                <a:solidFill>
                  <a:srgbClr val="718096"/>
                </a:solidFill>
              </a:rPr>
              <a:t>  + Phase 3: TransactionalDataAnalysisAgent — Runs FIRST (before Q&amp;A loop)  ·  Results indexed (transactional_analysis_index + raw_transactional_tables_index)  ·  Context injected into every question supervisor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AGENT DEEP-DIVE  —  ALL 8 AGENTS  &amp;  PHASE 3 TRANSACTIONAL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70432"/>
            <a:ext cx="165506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170432"/>
            <a:ext cx="4663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170432"/>
            <a:ext cx="2167128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170432"/>
            <a:ext cx="22951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44018"/>
                </a:solidFill>
              </a:rPr>
              <a:t>KEY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426464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Scope Identifier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1426464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426464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Assigns FCPA scope after risk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1426464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Runs after RiskClassifier  ·  risk_eval + classifier ctx  ·  &lt;MODERATE → Scope Unclear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073402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HCBI Policy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2073402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2073402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HCBI global policy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073402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n=2  ·  hcbi_policy_index  ·  top-k=5  ·  async 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720340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2720340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2720340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FCPA scope + DD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720340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ScopePolicyTool (always)  ·  DDPolicyTool (DUE_DILIGENCE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367278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Supporting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3367278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3367278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auditor-specific evidence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3367278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n=3  ·  BM25+RRF reranker  ·  auditor_folder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014216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" y="4014216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4014216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Identifies compliance gaps + risk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014216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GPT-5 reasoning only  ·  sets transactional_intent flag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" y="4661154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4661154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661154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NL-to-SQL on 10 GLD dashboard tables (cpr__gld)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4661154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CONDITIONAL  ·  7 active + 3 extended GLD dashboards  ·  transactional_intent flag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" y="5308092"/>
            <a:ext cx="165506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Classifier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308092"/>
            <a:ext cx="4663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308092"/>
            <a:ext cx="2167128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9-field structured risk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308092"/>
            <a:ext cx="2295144" cy="64693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Type · Category · Evidence · Gap · GL Mismatch ·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" y="5955030"/>
            <a:ext cx="165506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Writer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38528" y="5955030"/>
            <a:ext cx="4663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5955030"/>
            <a:ext cx="2167128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Generates all final output fields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5955030"/>
            <a:ext cx="2295144" cy="64693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Title/Desc/Rationale  ·  Scope Reasoning  ·  Excel save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" y="6400800"/>
            <a:ext cx="6912864" cy="23774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Guardrails G1-G10 on all agents  ·  Pydantic structured-output validation  ·  SQL: SELECT-only · try_cast · deterministic 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170432"/>
            <a:ext cx="483717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PHASE 3  —  TRANSACTIONAL DATA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1408176"/>
            <a:ext cx="4837176" cy="32918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AI-driven  ·  Runs FIRST (before question loop)
All 48 FCPA scopes  ·  Concurrent thread pool (6 workers)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737360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1737360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CPR guidance for all 48 scopes
risk_profile · red_flags · data_calculations
sampling_rationale · expected_sample_size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505456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2505456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Data Calculations (col I) to SQL
Uses FCPA intelligence if guidance thin
try_cast for STRING numerics  ·  LIMIT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273552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3273552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Execute SQL against Delta tables
Scope-specific computed data result
Falls back to shared summary if empty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041648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4041648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ONE consolidated risk assessment
Risk Type · Risk Category · Score
Description + Rationale (all concerns merged)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809744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STEP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4809744"/>
            <a:ext cx="4123944" cy="74066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If risk detected: pull transaction samples
SELECT *  LIMIT = Expected Sample Size + 5
Exact source table from query FROM clause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577840"/>
            <a:ext cx="694944" cy="74066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36992" y="5577840"/>
            <a:ext cx="4123944" cy="74066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~48 rows (one per scope area)
No Risk scopes emit row with no samples
Persisted: transactional_analysis_index + raw_transactional_tables_index  ·  context injected per question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03504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OUTPUT  ·  GOVERNANCE  ·  OBSERVABILITY  · 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15568"/>
            <a:ext cx="12097512" cy="54864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OUTPUT  —  FCPA_Audit_&lt;AUDITOR_ID&gt;_&lt;ts&gt;.xlsx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Output A — Risk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60934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Title  ·  Risk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8366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Category  ·  Risk Category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15798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Rationale  ·  Risk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43230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Scope Area  ·  Scope Area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270662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Evidence Explanation  ·  Calculation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980944"/>
            <a:ext cx="3892296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Samples (transaction rows)  ·  Source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255264"/>
            <a:ext cx="3892296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Question  ·  Response  ·  Follow-up Q &amp;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3529584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Output B — Scope Summary  ·  Output C — AI Risk Analysis  ·  Output F — Scope Txn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730752"/>
            <a:ext cx="3892296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Count: Potential Risk  ·  Further Review  ·  No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3950208"/>
            <a:ext cx="3892296" cy="21945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Top compliance gaps  ·  Average category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4169664"/>
            <a:ext cx="3892296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Row colour: High=red · Med/Low=yellow · No Risk=none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443984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GOVERNANCE &amp;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681728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G1-G10 guardrails on all 8 agent system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4926330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G1-G6: hallucination · data invention ·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5170932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FCPA scope · no legal advice · 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5415534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G7-G10: valid scope IDs · exact output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5660136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 confidence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5904738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Pydantic structured-output on every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6149340"/>
            <a:ext cx="3892296" cy="24460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SQL: SELECT-only · try_cast · LIMIT 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" y="6393942"/>
            <a:ext cx="3892296" cy="24460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FastAPI: X-API-Key · 10 req/min · sanitization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4904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OBSERVABILITY  —  Lakebase Postgres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4904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Observability Store (OTEL)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4904" y="1609344"/>
            <a:ext cx="3892296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OpenTelemetry protocol emitted by every agent
and the pipeline on every call.
Captures: traces · spans · metrics · logs
Backend: Lakebase Postgres (Databricks)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4904" y="2279904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Feedback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4904" y="2481072"/>
            <a:ext cx="3892296" cy="67056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End-user feedback captured on the UI.
Rating + comments per finding.
Keyed to: job_id · question_id · scope_id
Backend: Lakebase 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4904" y="3151632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AI Scope · Scoping Deck · Prior Audit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4904" y="3352800"/>
            <a:ext cx="3892296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AI Scope: reads Output C → group-by-scope → LLM summary → Sheet A+B xlsx
Scoping Deck: 10 concurrent generators → DeckRenderer → PPTX
Past Audit: PastAuditSummarizerAgent → past_audit_index → Past Audit Report
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4904" y="4078224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FASTAPI LAYER  (async)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4904" y="4315968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POST /audit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AuditRequest → background task → job_id (202)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4904" y="4703064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/status/{job_id}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Poll: pending / complete / failed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4904" y="5090160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/health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Liveness probe (200 if process is up)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4904" y="5477256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/ready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Vector Search + LLM connectivity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4904" y="5864352"/>
            <a:ext cx="3892296" cy="38709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Auth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SSO on UI  ·  X-API-Key on 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4904" y="6251448"/>
            <a:ext cx="3892296" cy="38709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Safety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Rate limit 10 req/min  ·  Input sanitization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640" y="1170432"/>
            <a:ext cx="3892296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44018"/>
                </a:solidFill>
              </a:rPr>
              <a:t>  TECHNOLOGY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8640" y="1408176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AI /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8640" y="1609344"/>
            <a:ext cx="3892296" cy="11064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OpenAI GPT-5
  All 8 agents · Phase 3 · MQR generation
Azure OpenAI text-embedding-3-large
  3072 dims · ingestion + all retrieval
LangChain · LangGraph (supervisor + ReAct)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8640" y="2715768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2916936"/>
            <a:ext cx="3892296" cy="11064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Vector Search  (9 indexes)
BM25Reranker + RRF fusion  (rank-bm25)
MultiQueryRetriever  (n=2 or 3 phrasings)
ContextAggregator: HCBI &gt; Policy &gt; Docs
Delta Lake  (10 GLD dashboard tables  ·  cpr__gld)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8640" y="4023360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Document Ingestion / OCR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8640" y="4224528"/>
            <a:ext cx="3892296" cy="110642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Document Intelligence (prebuilt-read)
Tesseract OCR  (fallback)
pdfplumber · PyMuPDF  (PDF pages)
python-pptx · python-docx · openpyxl
BeautifulSoup · extract-msg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8640" y="5330952"/>
            <a:ext cx="3892296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44018"/>
                </a:solidFill>
              </a:rPr>
              <a:t>  Platform / Infrastructure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8640" y="5532120"/>
            <a:ext cx="3892296" cy="1106424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Unity Catalog on Azure
Lakebase Postgres  (observability + feedback)
OpenTelemetry (OTEL)  ·  FastAPI  ·  asyncio
SQLAlchemy · Pydantic · pydantic-settings
openpyxl  (Excel output)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8" y="6638544"/>
            <a:ext cx="11859768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