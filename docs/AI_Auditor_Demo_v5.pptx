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33856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11896344" cy="621792"/>
          </a:xfrm>
          <a:prstGeom prst="rect">
            <a:avLst/>
          </a:prstGeom>
          <a:solidFill>
            <a:srgbClr val="F05A28"/>
          </a:solidFill>
        </p:spPr>
        <p:txBody>
          <a:bodyPr wrap="square" anchor="ctr"/>
          <a:lstStyle/>
          <a:p>
            <a:pPr algn="l"/>
            <a:r>
              <a:rPr sz="2600" b="1">
                <a:solidFill>
                  <a:srgbClr val="FFFFFF"/>
                </a:solidFill>
              </a:rPr>
              <a:t>AI AUDITOR  —  MULTI-AGENT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694944"/>
            <a:ext cx="11896344" cy="347472"/>
          </a:xfrm>
          <a:prstGeom prst="rect">
            <a:avLst/>
          </a:prstGeom>
          <a:solidFill>
            <a:srgbClr val="F05A28"/>
          </a:solidFill>
        </p:spPr>
        <p:txBody>
          <a:bodyPr wrap="square" anchor="ctr"/>
          <a:lstStyle/>
          <a:p>
            <a:pPr algn="l"/>
            <a:r>
              <a:rPr sz="950" b="0">
                <a:solidFill>
                  <a:srgbClr val="FFD5C2"/>
                </a:solidFill>
              </a:rPr>
              <a:t>Johnson &amp; Johnson   ·   TPI Due Diligence Compliance Automation   ·   Powered by LangGraph + Azure OpenAI GPT-5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1133856"/>
            <a:ext cx="12097512" cy="36576"/>
          </a:xfrm>
          <a:prstGeom prst="rect">
            <a:avLst/>
          </a:prstGeom>
          <a:solidFill>
            <a:srgbClr val="F5C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062472"/>
            <a:ext cx="12188952" cy="27432"/>
          </a:xfrm>
          <a:prstGeom prst="rect">
            <a:avLst/>
          </a:prstGeom>
          <a:solidFill>
            <a:srgbClr val="F5C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089904"/>
            <a:ext cx="2031492" cy="548640"/>
          </a:xfrm>
          <a:prstGeom prst="rect">
            <a:avLst/>
          </a:prstGeom>
          <a:solidFill>
            <a:srgbClr val="F05A28"/>
          </a:solidFill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8</a:t>
            </a:r>
          </a:p>
          <a:p>
            <a:pPr algn="ctr"/>
            <a:r>
              <a:rPr sz="750" b="0">
                <a:solidFill>
                  <a:srgbClr val="FFFFFF"/>
                </a:solidFill>
              </a:rPr>
              <a:t>AI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31492" y="6089904"/>
            <a:ext cx="2031492" cy="548640"/>
          </a:xfrm>
          <a:prstGeom prst="rect">
            <a:avLst/>
          </a:prstGeom>
          <a:solidFill>
            <a:srgbClr val="C84418"/>
          </a:solidFill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48</a:t>
            </a:r>
          </a:p>
          <a:p>
            <a:pPr algn="ctr"/>
            <a:r>
              <a:rPr sz="750" b="0">
                <a:solidFill>
                  <a:srgbClr val="FFFFFF"/>
                </a:solidFill>
              </a:rPr>
              <a:t>FCPA Scopes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2984" y="6089904"/>
            <a:ext cx="2031492" cy="548640"/>
          </a:xfrm>
          <a:prstGeom prst="rect">
            <a:avLst/>
          </a:prstGeom>
          <a:solidFill>
            <a:srgbClr val="F05A28"/>
          </a:solidFill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  <a:p>
            <a:pPr algn="ctr"/>
            <a:r>
              <a:rPr sz="750" b="0">
                <a:solidFill>
                  <a:srgbClr val="FFFFFF"/>
                </a:solidFill>
              </a:rPr>
              <a:t>Vector Indexes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4476" y="6089904"/>
            <a:ext cx="2031492" cy="548640"/>
          </a:xfrm>
          <a:prstGeom prst="rect">
            <a:avLst/>
          </a:prstGeom>
          <a:solidFill>
            <a:srgbClr val="C84418"/>
          </a:solidFill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  <a:p>
            <a:pPr algn="ctr"/>
            <a:r>
              <a:rPr sz="750" b="0">
                <a:solidFill>
                  <a:srgbClr val="FFFFFF"/>
                </a:solidFill>
              </a:rPr>
              <a:t>Policy Layers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5968" y="6089904"/>
            <a:ext cx="2031492" cy="548640"/>
          </a:xfrm>
          <a:prstGeom prst="rect">
            <a:avLst/>
          </a:prstGeom>
          <a:solidFill>
            <a:srgbClr val="F05A28"/>
          </a:solidFill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3,072</a:t>
            </a:r>
          </a:p>
          <a:p>
            <a:pPr algn="ctr"/>
            <a:r>
              <a:rPr sz="750" b="0">
                <a:solidFill>
                  <a:srgbClr val="FFFFFF"/>
                </a:solidFill>
              </a:rPr>
              <a:t>Embedding Dims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57460" y="6089904"/>
            <a:ext cx="2031492" cy="548640"/>
          </a:xfrm>
          <a:prstGeom prst="rect">
            <a:avLst/>
          </a:prstGeom>
          <a:solidFill>
            <a:srgbClr val="C84418"/>
          </a:solidFill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GPT-5</a:t>
            </a:r>
          </a:p>
          <a:p>
            <a:pPr algn="ctr"/>
            <a:r>
              <a:rPr sz="750" b="0">
                <a:solidFill>
                  <a:srgbClr val="FFFFFF"/>
                </a:solidFill>
              </a:rPr>
              <a:t>LLM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" y="1188720"/>
            <a:ext cx="3874008" cy="23774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C84418"/>
                </a:solidFill>
              </a:rPr>
              <a:t>    What Is It?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" y="1426464"/>
            <a:ext cx="3874008" cy="4626864"/>
          </a:xfrm>
          <a:prstGeom prst="rect">
            <a:avLst/>
          </a:prstGeom>
          <a:solidFill>
            <a:srgbClr val="FDF3EF"/>
          </a:solidFill>
        </p:spPr>
        <p:txBody>
          <a:bodyPr wrap="square" anchor="t"/>
          <a:lstStyle/>
          <a:p>
            <a:pPr algn="l"/>
            <a:r>
              <a:rPr sz="900" b="0">
                <a:solidFill>
                  <a:srgbClr val="1A1A2E"/>
                </a:solidFill>
              </a:rPr>
              <a:t>An AI-native audit engine that automates</a:t>
            </a:r>
          </a:p>
          <a:p>
            <a:pPr algn="l"/>
            <a:r>
              <a:rPr sz="900" b="0">
                <a:solidFill>
                  <a:srgbClr val="1A1A2E"/>
                </a:solidFill>
              </a:rPr>
              <a:t>the manual TPI Due Diligence review process.</a:t>
            </a:r>
          </a:p>
          <a:p>
            <a:pPr algn="l"/>
            <a:r>
              <a:rPr sz="900" b="0">
                <a:solidFill>
                  <a:srgbClr val="1A1A2E"/>
                </a:solidFill>
              </a:rPr>
              <a:t> </a:t>
            </a:r>
          </a:p>
          <a:p>
            <a:pPr algn="l"/>
            <a:r>
              <a:rPr sz="900" b="0">
                <a:solidFill>
                  <a:srgbClr val="1A1A2E"/>
                </a:solidFill>
              </a:rPr>
              <a:t>Auditors upload questionnaire Q&amp;A responses.</a:t>
            </a:r>
          </a:p>
          <a:p>
            <a:pPr algn="l"/>
            <a:r>
              <a:rPr sz="900" b="0">
                <a:solidFill>
                  <a:srgbClr val="1A1A2E"/>
                </a:solidFill>
              </a:rPr>
              <a:t>Eight specialised AI agents analyse every</a:t>
            </a:r>
          </a:p>
          <a:p>
            <a:pPr algn="l"/>
            <a:r>
              <a:rPr sz="900" b="0">
                <a:solidFill>
                  <a:srgbClr val="1A1A2E"/>
                </a:solidFill>
              </a:rPr>
              <a:t>question against three policy layers and the</a:t>
            </a:r>
          </a:p>
          <a:p>
            <a:pPr algn="l"/>
            <a:r>
              <a:rPr sz="900" b="0">
                <a:solidFill>
                  <a:srgbClr val="1A1A2E"/>
                </a:solidFill>
              </a:rPr>
              <a:t>auditor's own supporting evidence documents,</a:t>
            </a:r>
          </a:p>
          <a:p>
            <a:pPr algn="l"/>
            <a:r>
              <a:rPr sz="900" b="0">
                <a:solidFill>
                  <a:srgbClr val="1A1A2E"/>
                </a:solidFill>
              </a:rPr>
              <a:t>then produce a risk-classified, evidence-</a:t>
            </a:r>
          </a:p>
          <a:p>
            <a:pPr algn="l"/>
            <a:r>
              <a:rPr sz="900" b="0">
                <a:solidFill>
                  <a:srgbClr val="1A1A2E"/>
                </a:solidFill>
              </a:rPr>
              <a:t>backed Excel report — automatically.</a:t>
            </a:r>
          </a:p>
          <a:p>
            <a:pPr algn="l"/>
            <a:r>
              <a:rPr sz="900" b="0">
                <a:solidFill>
                  <a:srgbClr val="1A1A2E"/>
                </a:solidFill>
              </a:rPr>
              <a:t> </a:t>
            </a:r>
          </a:p>
          <a:p>
            <a:pPr algn="l"/>
            <a:r>
              <a:rPr sz="900" b="1">
                <a:solidFill>
                  <a:srgbClr val="4A5568"/>
                </a:solidFill>
              </a:rPr>
              <a:t>Platform:         Databricks on Azure</a:t>
            </a:r>
          </a:p>
          <a:p>
            <a:pPr algn="l"/>
            <a:r>
              <a:rPr sz="900" b="1">
                <a:solidFill>
                  <a:srgbClr val="4A5568"/>
                </a:solidFill>
              </a:rPr>
              <a:t>LLM:                Azure OpenAI GPT-5</a:t>
            </a:r>
          </a:p>
          <a:p>
            <a:pPr algn="l"/>
            <a:r>
              <a:rPr sz="900" b="1">
                <a:solidFill>
                  <a:srgbClr val="4A5568"/>
                </a:solidFill>
              </a:rPr>
              <a:t>Orchestration:  LangGraph supervisor</a:t>
            </a:r>
          </a:p>
          <a:p>
            <a:pPr algn="l"/>
            <a:r>
              <a:rPr sz="900" b="1">
                <a:solidFill>
                  <a:srgbClr val="4A5568"/>
                </a:solidFill>
              </a:rPr>
              <a:t>Retrieval:          Databricks Vector Search</a:t>
            </a:r>
          </a:p>
          <a:p>
            <a:pPr algn="l"/>
            <a:r>
              <a:rPr sz="900" b="1">
                <a:solidFill>
                  <a:srgbClr val="4A5568"/>
                </a:solidFill>
              </a:rPr>
              <a:t>Output:             Excel (colour-coded)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1480" y="1188720"/>
            <a:ext cx="3874008" cy="23774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C84418"/>
                </a:solidFill>
              </a:rPr>
              <a:t>    Challenges Addressed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1480" y="1426464"/>
            <a:ext cx="3874008" cy="660980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Manual review bottleneck</a:t>
            </a:r>
          </a:p>
          <a:p>
            <a:pPr algn="l"/>
            <a:r>
              <a:rPr sz="800" b="0">
                <a:solidFill>
                  <a:srgbClr val="4A5568"/>
                </a:solidFill>
              </a:rPr>
              <a:t>Hours per question, inconsistent across auditors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1480" y="2087444"/>
            <a:ext cx="3874008" cy="660980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Policy coverage gaps</a:t>
            </a:r>
          </a:p>
          <a:p>
            <a:pPr algn="l"/>
            <a:r>
              <a:rPr sz="800" b="0">
                <a:solidFill>
                  <a:srgbClr val="4A5568"/>
                </a:solidFill>
              </a:rPr>
              <a:t>HCBI global vs. local TPI policy conflicts missed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1480" y="2748425"/>
            <a:ext cx="3874008" cy="660980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No evidence linkage</a:t>
            </a:r>
          </a:p>
          <a:p>
            <a:pPr algn="l"/>
            <a:r>
              <a:rPr sz="800" b="0">
                <a:solidFill>
                  <a:srgbClr val="4A5568"/>
                </a:solidFill>
              </a:rPr>
              <a:t>Findings not grounded in supporting documents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21480" y="3409405"/>
            <a:ext cx="3874008" cy="660980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Missing scope mapping</a:t>
            </a:r>
          </a:p>
          <a:p>
            <a:pPr algn="l"/>
            <a:r>
              <a:rPr sz="800" b="0">
                <a:solidFill>
                  <a:srgbClr val="4A5568"/>
                </a:solidFill>
              </a:rPr>
              <a:t>Questions not mapped to 48 FCPA audit scopes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21480" y="4070386"/>
            <a:ext cx="3874008" cy="660980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Transactional blind spot</a:t>
            </a:r>
          </a:p>
          <a:p>
            <a:pPr algn="l"/>
            <a:r>
              <a:rPr sz="800" b="0">
                <a:solidFill>
                  <a:srgbClr val="4A5568"/>
                </a:solidFill>
              </a:rPr>
              <a:t>No automated check on payments / revenue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1480" y="4731366"/>
            <a:ext cx="3874008" cy="660980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No audit trail</a:t>
            </a:r>
          </a:p>
          <a:p>
            <a:pPr algn="l"/>
            <a:r>
              <a:rPr sz="800" b="0">
                <a:solidFill>
                  <a:srgbClr val="4A5568"/>
                </a:solidFill>
              </a:rPr>
              <a:t>Reasoning not captured; findings not reproducible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21480" y="5392347"/>
            <a:ext cx="3874008" cy="660980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Manual Excel reporting</a:t>
            </a:r>
          </a:p>
          <a:p>
            <a:pPr algn="l"/>
            <a:r>
              <a:rPr sz="800" b="0">
                <a:solidFill>
                  <a:srgbClr val="4A5568"/>
                </a:solidFill>
              </a:rPr>
              <a:t>Time-consuming, error-prone, no risk colour-coding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6928" y="1188720"/>
            <a:ext cx="3874008" cy="23774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C84418"/>
                </a:solidFill>
              </a:rPr>
              <a:t>    Value Delivered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6928" y="1426464"/>
            <a:ext cx="3874008" cy="660980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8 specialised AI agents</a:t>
            </a:r>
          </a:p>
          <a:p>
            <a:pPr algn="l"/>
            <a:r>
              <a:rPr sz="800" b="0">
                <a:solidFill>
                  <a:srgbClr val="4A5568"/>
                </a:solidFill>
              </a:rPr>
              <a:t>Analyse every question across parallel phases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6928" y="2087444"/>
            <a:ext cx="3874008" cy="660980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3 policy layers</a:t>
            </a:r>
          </a:p>
          <a:p>
            <a:pPr algn="l"/>
            <a:r>
              <a:rPr sz="800" b="0">
                <a:solidFill>
                  <a:srgbClr val="4A5568"/>
                </a:solidFill>
              </a:rPr>
              <a:t>HCBI + local TPI + FCPA scope guidance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6928" y="2748425"/>
            <a:ext cx="3874008" cy="660980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Hybrid retrieval</a:t>
            </a:r>
          </a:p>
          <a:p>
            <a:pPr algn="l"/>
            <a:r>
              <a:rPr sz="800" b="0">
                <a:solidFill>
                  <a:srgbClr val="4A5568"/>
                </a:solidFill>
              </a:rPr>
              <a:t>BM25 reranker fused with semantic vector 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6928" y="3409405"/>
            <a:ext cx="3874008" cy="660980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NL-to-SQL on Delta tables</a:t>
            </a:r>
          </a:p>
          <a:p>
            <a:pPr algn="l"/>
            <a:r>
              <a:rPr sz="800" b="0">
                <a:solidFill>
                  <a:srgbClr val="4A5568"/>
                </a:solidFill>
              </a:rPr>
              <a:t>Automated payments &amp; revenue transactional checks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6928" y="4070386"/>
            <a:ext cx="3874008" cy="660980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48 FCPA scopes covered</a:t>
            </a:r>
          </a:p>
          <a:p>
            <a:pPr algn="l"/>
            <a:r>
              <a:rPr sz="800" b="0">
                <a:solidFill>
                  <a:srgbClr val="4A5568"/>
                </a:solidFill>
              </a:rPr>
              <a:t>Every scope area analysed in Phase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6928" y="4731366"/>
            <a:ext cx="3874008" cy="660980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Evidence-backed findings</a:t>
            </a:r>
          </a:p>
          <a:p>
            <a:pPr algn="l"/>
            <a:r>
              <a:rPr sz="800" b="0">
                <a:solidFill>
                  <a:srgbClr val="4A5568"/>
                </a:solidFill>
              </a:rPr>
              <a:t>Every risk linked to source documents by name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6928" y="5392347"/>
            <a:ext cx="3874008" cy="660980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Auto-generated Excel report</a:t>
            </a:r>
          </a:p>
          <a:p>
            <a:pPr algn="l"/>
            <a:r>
              <a:rPr sz="800" b="0">
                <a:solidFill>
                  <a:srgbClr val="4A5568"/>
                </a:solidFill>
              </a:rPr>
              <a:t>Colour-coded by risk category, incremental save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" y="6638544"/>
            <a:ext cx="11804904" cy="219456"/>
          </a:xfrm>
          <a:prstGeom prst="rect">
            <a:avLst/>
          </a:prstGeom>
          <a:solidFill>
            <a:srgbClr val="F7F7F7"/>
          </a:solidFill>
        </p:spPr>
        <p:txBody>
          <a:bodyPr wrap="square" anchor="ctr"/>
          <a:lstStyle/>
          <a:p>
            <a:pPr algn="ctr"/>
            <a:r>
              <a:rPr sz="750" b="0">
                <a:solidFill>
                  <a:srgbClr val="A0AEBE"/>
                </a:solidFill>
              </a:rPr>
              <a:t>CONFIDENTIAL   ·   EXL Service   ·   AI Auditor   · 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33856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11896344" cy="621792"/>
          </a:xfrm>
          <a:prstGeom prst="rect">
            <a:avLst/>
          </a:prstGeom>
          <a:solidFill>
            <a:srgbClr val="F05A28"/>
          </a:solidFill>
        </p:spPr>
        <p:txBody>
          <a:bodyPr wrap="square" anchor="ctr"/>
          <a:lstStyle/>
          <a:p>
            <a:pPr algn="l"/>
            <a:r>
              <a:rPr sz="2600" b="1">
                <a:solidFill>
                  <a:srgbClr val="FFFFFF"/>
                </a:solidFill>
              </a:rPr>
              <a:t>SYSTEM ARCHITECTURE  —  END-TO-END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133856"/>
            <a:ext cx="12097512" cy="36576"/>
          </a:xfrm>
          <a:prstGeom prst="rect">
            <a:avLst/>
          </a:prstGeom>
          <a:solidFill>
            <a:srgbClr val="F5C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188720"/>
            <a:ext cx="11804904" cy="23774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C84418"/>
                </a:solidFill>
              </a:rPr>
              <a:t>  INPUT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426464"/>
            <a:ext cx="1930908" cy="201168"/>
          </a:xfrm>
          <a:prstGeom prst="rect">
            <a:avLst/>
          </a:prstGeom>
          <a:solidFill>
            <a:srgbClr val="F05A28"/>
          </a:solidFill>
        </p:spPr>
        <p:txBody>
          <a:bodyPr wrap="square" anchor="ctr"/>
          <a:lstStyle/>
          <a:p>
            <a:pPr algn="ctr"/>
            <a:r>
              <a:rPr sz="650" b="1">
                <a:solidFill>
                  <a:srgbClr val="FFFFFF"/>
                </a:solidFill>
              </a:rPr>
              <a:t>QUESTIONNAIRE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1627632"/>
            <a:ext cx="1930908" cy="402336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ctr"/>
            <a:r>
              <a:rPr sz="750" b="0">
                <a:solidFill>
                  <a:srgbClr val="4A5568"/>
                </a:solidFill>
              </a:rPr>
              <a:t>Planning Q&amp;A  ·  IDR Q&amp;A
Follow-up Q&amp;A  (Delta Tables)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3516" y="1426464"/>
            <a:ext cx="1930908" cy="201168"/>
          </a:xfrm>
          <a:prstGeom prst="rect">
            <a:avLst/>
          </a:prstGeom>
          <a:solidFill>
            <a:srgbClr val="F05A28"/>
          </a:solidFill>
        </p:spPr>
        <p:txBody>
          <a:bodyPr wrap="square" anchor="ctr"/>
          <a:lstStyle/>
          <a:p>
            <a:pPr algn="ctr"/>
            <a:r>
              <a:rPr sz="650" b="1">
                <a:solidFill>
                  <a:srgbClr val="FFFFFF"/>
                </a:solidFill>
              </a:rPr>
              <a:t>HCBI GLOBAL POLICY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23516" y="1627632"/>
            <a:ext cx="1930908" cy="402336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ctr"/>
            <a:r>
              <a:rPr sz="750" b="0">
                <a:solidFill>
                  <a:srgbClr val="4A5568"/>
                </a:solidFill>
              </a:rPr>
              <a:t>TV-POL-02257_v3.0.pdf
115 pages  ·  image 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1000" y="1426464"/>
            <a:ext cx="1930908" cy="201168"/>
          </a:xfrm>
          <a:prstGeom prst="rect">
            <a:avLst/>
          </a:prstGeom>
          <a:solidFill>
            <a:srgbClr val="F05A28"/>
          </a:solidFill>
        </p:spPr>
        <p:txBody>
          <a:bodyPr wrap="square" anchor="ctr"/>
          <a:lstStyle/>
          <a:p>
            <a:pPr algn="ctr"/>
            <a:r>
              <a:rPr sz="650" b="1">
                <a:solidFill>
                  <a:srgbClr val="FFFFFF"/>
                </a:solidFill>
              </a:rPr>
              <a:t>TPI DUE DILIGENCE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1000" y="1627632"/>
            <a:ext cx="1930908" cy="402336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ctr"/>
            <a:r>
              <a:rPr sz="750" b="0">
                <a:solidFill>
                  <a:srgbClr val="4A5568"/>
                </a:solidFill>
              </a:rPr>
              <a:t>TPEC · Red Flag · SOP
PDFs &amp; .doc  (Volumes)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8484" y="1426464"/>
            <a:ext cx="1930908" cy="201168"/>
          </a:xfrm>
          <a:prstGeom prst="rect">
            <a:avLst/>
          </a:prstGeom>
          <a:solidFill>
            <a:srgbClr val="F05A28"/>
          </a:solidFill>
        </p:spPr>
        <p:txBody>
          <a:bodyPr wrap="square" anchor="ctr"/>
          <a:lstStyle/>
          <a:p>
            <a:pPr algn="ctr"/>
            <a:r>
              <a:rPr sz="650" b="1">
                <a:solidFill>
                  <a:srgbClr val="FFFFFF"/>
                </a:solidFill>
              </a:rPr>
              <a:t>CPR SCOPE GUIDANCE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8484" y="1627632"/>
            <a:ext cx="1930908" cy="402336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ctr"/>
            <a:r>
              <a:rPr sz="750" b="0">
                <a:solidFill>
                  <a:srgbClr val="4A5568"/>
                </a:solidFill>
              </a:rPr>
              <a:t>48 scope areas · Excel
144 chunks  (Volumes)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5968" y="1426464"/>
            <a:ext cx="1930908" cy="201168"/>
          </a:xfrm>
          <a:prstGeom prst="rect">
            <a:avLst/>
          </a:prstGeom>
          <a:solidFill>
            <a:srgbClr val="F05A28"/>
          </a:solidFill>
        </p:spPr>
        <p:txBody>
          <a:bodyPr wrap="square" anchor="ctr"/>
          <a:lstStyle/>
          <a:p>
            <a:pPr algn="ctr"/>
            <a:r>
              <a:rPr sz="650" b="1">
                <a:solidFill>
                  <a:srgbClr val="FFFFFF"/>
                </a:solidFill>
              </a:rPr>
              <a:t>SUPPORTING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5968" y="1627632"/>
            <a:ext cx="1930908" cy="402336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ctr"/>
            <a:r>
              <a:rPr sz="750" b="0">
                <a:solidFill>
                  <a:srgbClr val="4A5568"/>
                </a:solidFill>
              </a:rPr>
              <a:t>PDF XLS PPT DOCX HTML MSG
Per-auditor folder tagging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93452" y="1426464"/>
            <a:ext cx="1930908" cy="201168"/>
          </a:xfrm>
          <a:prstGeom prst="rect">
            <a:avLst/>
          </a:prstGeom>
          <a:solidFill>
            <a:srgbClr val="F05A28"/>
          </a:solidFill>
        </p:spPr>
        <p:txBody>
          <a:bodyPr wrap="square" anchor="ctr"/>
          <a:lstStyle/>
          <a:p>
            <a:pPr algn="ctr"/>
            <a:r>
              <a:rPr sz="650" b="1">
                <a:solidFill>
                  <a:srgbClr val="FFFFFF"/>
                </a:solidFill>
              </a:rPr>
              <a:t>TRANSACTIONAL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93452" y="1627632"/>
            <a:ext cx="1930908" cy="402336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ctr"/>
            <a:r>
              <a:rPr sz="750" b="0">
                <a:solidFill>
                  <a:srgbClr val="4A5568"/>
                </a:solidFill>
              </a:rPr>
              <a:t>Payments · Credit Memo
Revenue  (Delta Tables)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" y="2075688"/>
            <a:ext cx="11804904" cy="23774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C84418"/>
                </a:solidFill>
              </a:rPr>
              <a:t>  DOCUMENT INTELLIGENCE   (async  ·  runs once at startup)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" y="2313432"/>
            <a:ext cx="1930908" cy="475488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Universal Document Loader
Routes by file type / DocumentType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23516" y="2313432"/>
            <a:ext cx="1930908" cy="47548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PDF Extractors
pdfplumber + PyMuPDF
+ Azure Doc Intelligence OCR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91000" y="2313432"/>
            <a:ext cx="1930908" cy="475488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Office / Web / Mail
pptx · docx · openpyxl
BSoup · extract-msg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8484" y="2313432"/>
            <a:ext cx="1930908" cy="47548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Section-Aware Chunker
800 tokens · 100-token overlap
scope_id + auditor_folder tags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5968" y="2313432"/>
            <a:ext cx="1930908" cy="475488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Embedder
Azure OpenAI
text-embedding-3-large  3072d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93452" y="2313432"/>
            <a:ext cx="1930908" cy="47548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4 Vector Indexes
hcbi_policy · tpi_due_diligence
auditor_supporting · fcpa_scope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" y="2834640"/>
            <a:ext cx="11804904" cy="23774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C84418"/>
                </a:solidFill>
              </a:rPr>
              <a:t>  PHASE 0  —  SCOPE IDENTIFIER AGENT   (per question)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" y="3072384"/>
            <a:ext cx="1930908" cy="182880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00" b="1">
                <a:solidFill>
                  <a:srgbClr val="C84418"/>
                </a:solidFill>
              </a:rPr>
              <a:t>INPUT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3255264"/>
            <a:ext cx="1930908" cy="256032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ctr"/>
            <a:r>
              <a:rPr sz="750" b="0">
                <a:solidFill>
                  <a:srgbClr val="4A5568"/>
                </a:solidFill>
              </a:rPr>
              <a:t>question + response
+ follow-up context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23516" y="3072384"/>
            <a:ext cx="1930908" cy="182880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00" b="1">
                <a:solidFill>
                  <a:srgbClr val="C84418"/>
                </a:solidFill>
              </a:rPr>
              <a:t>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23516" y="3255264"/>
            <a:ext cx="1930908" cy="256032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ctr"/>
            <a:r>
              <a:rPr sz="750" b="0">
                <a:solidFill>
                  <a:srgbClr val="4A5568"/>
                </a:solidFill>
              </a:rPr>
              <a:t>LLM maps to 48 FCPA
audit scope area IDs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91000" y="3072384"/>
            <a:ext cx="1930908" cy="182880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00" b="1">
                <a:solidFill>
                  <a:srgbClr val="C84418"/>
                </a:solidFill>
              </a:rPr>
              <a:t>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91000" y="3255264"/>
            <a:ext cx="1930908" cy="256032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ctr"/>
            <a:r>
              <a:rPr sz="750" b="0">
                <a:solidFill>
                  <a:srgbClr val="4A5568"/>
                </a:solidFill>
              </a:rPr>
              <a:t>Primary Scope
Additional Scopes
Reasoning · Confidence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58484" y="3072384"/>
            <a:ext cx="1930908" cy="182880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00" b="1">
                <a:solidFill>
                  <a:srgbClr val="C84418"/>
                </a:solidFill>
              </a:rPr>
              <a:t>HIGH  &gt;=70%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58484" y="3255264"/>
            <a:ext cx="1930908" cy="256032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ctr"/>
            <a:r>
              <a:rPr sz="750" b="0">
                <a:solidFill>
                  <a:srgbClr val="4A5568"/>
                </a:solidFill>
              </a:rPr>
              <a:t>Use identified
scope(s) as-is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25968" y="3072384"/>
            <a:ext cx="1930908" cy="182880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00" b="1">
                <a:solidFill>
                  <a:srgbClr val="C84418"/>
                </a:solidFill>
              </a:rPr>
              <a:t>MEDIUM 50-69%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25968" y="3255264"/>
            <a:ext cx="1930908" cy="256032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ctr"/>
            <a:r>
              <a:rPr sz="750" b="0">
                <a:solidFill>
                  <a:srgbClr val="4A5568"/>
                </a:solidFill>
              </a:rPr>
              <a:t>Scope(s) +
additional scopes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93452" y="3072384"/>
            <a:ext cx="1930908" cy="182880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00" b="1">
                <a:solidFill>
                  <a:srgbClr val="C84418"/>
                </a:solidFill>
              </a:rPr>
              <a:t>LOW  &lt;50%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93452" y="3255264"/>
            <a:ext cx="1930908" cy="256032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ctr"/>
            <a:r>
              <a:rPr sz="750" b="0">
                <a:solidFill>
                  <a:srgbClr val="4A5568"/>
                </a:solidFill>
              </a:rPr>
              <a:t>ANY_SCOPE flag
unfiltered retrieval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6032" y="3557016"/>
            <a:ext cx="11804904" cy="23774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C84418"/>
                </a:solidFill>
              </a:rPr>
              <a:t>  PHASE A  —  PARALLEL RETRIEVAL   (asyncio.gather  ·  3 agents simultaneously)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6032" y="3794760"/>
            <a:ext cx="3898392" cy="219456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800" b="1">
                <a:solidFill>
                  <a:srgbClr val="C84418"/>
                </a:solidFill>
              </a:rPr>
              <a:t>HCBI POLICY AGENT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6032" y="4014216"/>
            <a:ext cx="3898392" cy="621792"/>
          </a:xfrm>
          <a:prstGeom prst="rect">
            <a:avLst/>
          </a:prstGeom>
          <a:solidFill>
            <a:srgbClr val="FDF3EF"/>
          </a:solidFill>
        </p:spPr>
        <p:txBody>
          <a:bodyPr wrap="square" anchor="t"/>
          <a:lstStyle/>
          <a:p>
            <a:pPr algn="l"/>
            <a:r>
              <a:rPr sz="750" b="0">
                <a:solidFill>
                  <a:srgbClr val="4A5568"/>
                </a:solidFill>
              </a:rPr>
              <a:t>Index:  hcbi_policy_index
Scope:  global   ·   top-k = 5
MQR n=2 alternative phrasings via LLM
Deduplicate by chunk_id, keep best score
asyncio.gather on MQR query variants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91000" y="3794760"/>
            <a:ext cx="3898392" cy="219456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800" b="1">
                <a:solidFill>
                  <a:srgbClr val="C84418"/>
                </a:solidFill>
              </a:rPr>
              <a:t>POLICY KNOWLEDGE AGENT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91000" y="4014216"/>
            <a:ext cx="3898392" cy="621792"/>
          </a:xfrm>
          <a:prstGeom prst="rect">
            <a:avLst/>
          </a:prstGeom>
          <a:solidFill>
            <a:srgbClr val="FFFFFF"/>
          </a:solidFill>
        </p:spPr>
        <p:txBody>
          <a:bodyPr wrap="square" anchor="t"/>
          <a:lstStyle/>
          <a:p>
            <a:pPr algn="l"/>
            <a:r>
              <a:rPr sz="750" b="0">
                <a:solidFill>
                  <a:srgbClr val="4A5568"/>
                </a:solidFill>
              </a:rPr>
              <a:t>Tool 1 (always): fcpa_scope_policy_index
  risk_profile + audit_guidance  top-k=2
  Unfiltered wide search if ANY_SCOPE
Tool 2 (DUE_DILIGENCE only):
  tpi_due_diligence_index  top-k=5  MQR n=2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25968" y="3794760"/>
            <a:ext cx="3898392" cy="219456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800" b="1">
                <a:solidFill>
                  <a:srgbClr val="C84418"/>
                </a:solidFill>
              </a:rPr>
              <a:t>SUPPORTING DOCS AGENT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25968" y="4014216"/>
            <a:ext cx="3898392" cy="621792"/>
          </a:xfrm>
          <a:prstGeom prst="rect">
            <a:avLst/>
          </a:prstGeom>
          <a:solidFill>
            <a:srgbClr val="FDF3EF"/>
          </a:solidFill>
        </p:spPr>
        <p:txBody>
          <a:bodyPr wrap="square" anchor="t"/>
          <a:lstStyle/>
          <a:p>
            <a:pPr algn="l"/>
            <a:r>
              <a:rPr sz="750" b="0">
                <a:solidFill>
                  <a:srgbClr val="4A5568"/>
                </a:solidFill>
              </a:rPr>
              <a:t>Index:  auditor_supporting_docs_index
Filter:  auditor_folder = AUDITOR_ID
MQR n=3  ·  candidate pool = top_k x 4
BM25Reranker RRF fusion:
  1/(60+sem_rank) + 1/(60+bm25_rank)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6032" y="4681728"/>
            <a:ext cx="11804904" cy="23774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C84418"/>
                </a:solidFill>
              </a:rPr>
              <a:t>  PHASE B  —  SEQUENTIAL ANALYSIS   (per question  ·  in order)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6032" y="4919472"/>
            <a:ext cx="2324404" cy="219456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84418"/>
                </a:solidFill>
              </a:rPr>
              <a:t>CONFLICT DETECTOR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6032" y="5138928"/>
            <a:ext cx="2324404" cy="1499616"/>
          </a:xfrm>
          <a:prstGeom prst="rect">
            <a:avLst/>
          </a:prstGeom>
          <a:solidFill>
            <a:srgbClr val="FDF3EF"/>
          </a:solidFill>
        </p:spPr>
        <p:txBody>
          <a:bodyPr wrap="square" anchor="t"/>
          <a:lstStyle/>
          <a:p>
            <a:pPr algn="l"/>
            <a:r>
              <a:rPr sz="800" b="0">
                <a:solidFill>
                  <a:srgbClr val="4A5568"/>
                </a:solidFill>
              </a:rPr>
              <a:t>Cross-row semantic similarity
InMemoryStore threshold &gt; 0.90
+ response divergence check
Further Review Required flag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17012" y="4919472"/>
            <a:ext cx="2324404" cy="219456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84418"/>
                </a:solidFill>
              </a:rPr>
              <a:t>RISK EVALUATION AGENT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17012" y="5138928"/>
            <a:ext cx="2324404" cy="1499616"/>
          </a:xfrm>
          <a:prstGeom prst="rect">
            <a:avLst/>
          </a:prstGeom>
          <a:solidFill>
            <a:srgbClr val="FFFFFF"/>
          </a:solidFill>
        </p:spPr>
        <p:txBody>
          <a:bodyPr wrap="square" anchor="t"/>
          <a:lstStyle/>
          <a:p>
            <a:pPr algn="l"/>
            <a:r>
              <a:rPr sz="800" b="0">
                <a:solidFill>
                  <a:srgbClr val="4A5568"/>
                </a:solidFill>
              </a:rPr>
              <a:t>GPT-5 — reasoning only
Identifies compliance gaps
Assesses impact &amp; risk level
Sets transactional_intent flag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77993" y="4919472"/>
            <a:ext cx="2324404" cy="219456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84418"/>
                </a:solidFill>
              </a:rPr>
              <a:t>TRANSACTIONAL DATA AGENT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77993" y="5138928"/>
            <a:ext cx="2324404" cy="1499616"/>
          </a:xfrm>
          <a:prstGeom prst="rect">
            <a:avLst/>
          </a:prstGeom>
          <a:solidFill>
            <a:srgbClr val="FDF3EF"/>
          </a:solidFill>
        </p:spPr>
        <p:txBody>
          <a:bodyPr wrap="square" anchor="t"/>
          <a:lstStyle/>
          <a:p>
            <a:pPr algn="l"/>
            <a:r>
              <a:rPr sz="800" b="0">
                <a:solidFill>
                  <a:srgbClr val="4A5568"/>
                </a:solidFill>
              </a:rPr>
              <a:t>CONDITIONAL only:
transactional_intent = true
NL-to-SQL on Delta tables:
Payments · Revenue · Credit Memo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38974" y="4919472"/>
            <a:ext cx="2324404" cy="219456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84418"/>
                </a:solidFill>
              </a:rPr>
              <a:t>RISK CLASSIFIER AGENT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38974" y="5138928"/>
            <a:ext cx="2324404" cy="1499616"/>
          </a:xfrm>
          <a:prstGeom prst="rect">
            <a:avLst/>
          </a:prstGeom>
          <a:solidFill>
            <a:srgbClr val="FFFFFF"/>
          </a:solidFill>
        </p:spPr>
        <p:txBody>
          <a:bodyPr wrap="square" anchor="t"/>
          <a:lstStyle/>
          <a:p>
            <a:pPr algn="l"/>
            <a:r>
              <a:rPr sz="800" b="0">
                <a:solidFill>
                  <a:srgbClr val="4A5568"/>
                </a:solidFill>
              </a:rPr>
              <a:t>9-field structured output:
Risk Type · Risk Category
Evidence Verdict · Pattern Match
Key Policy Req · Evidence Gap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99955" y="4919472"/>
            <a:ext cx="2324404" cy="219456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84418"/>
                </a:solidFill>
              </a:rPr>
              <a:t>RISK WRITER AGENT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99955" y="5138928"/>
            <a:ext cx="2324404" cy="1499616"/>
          </a:xfrm>
          <a:prstGeom prst="rect">
            <a:avLst/>
          </a:prstGeom>
          <a:solidFill>
            <a:srgbClr val="FDF3EF"/>
          </a:solidFill>
        </p:spPr>
        <p:txBody>
          <a:bodyPr wrap="square" anchor="t"/>
          <a:lstStyle/>
          <a:p>
            <a:pPr algn="l"/>
            <a:r>
              <a:rPr sz="800" b="0">
                <a:solidFill>
                  <a:srgbClr val="4A5568"/>
                </a:solidFill>
              </a:rPr>
              <a:t>Final output fields:
Risk Title / Type / Category
Risk Rationale / Description
Scope Area + Reasoning · Excel save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6032" y="6638544"/>
            <a:ext cx="11804904" cy="219456"/>
          </a:xfrm>
          <a:prstGeom prst="rect">
            <a:avLst/>
          </a:prstGeom>
          <a:solidFill>
            <a:srgbClr val="F7F7F7"/>
          </a:solidFill>
        </p:spPr>
        <p:txBody>
          <a:bodyPr wrap="square" anchor="ctr"/>
          <a:lstStyle/>
          <a:p>
            <a:pPr algn="ctr"/>
            <a:r>
              <a:rPr sz="750" b="0">
                <a:solidFill>
                  <a:srgbClr val="A0AEBE"/>
                </a:solidFill>
              </a:rPr>
              <a:t>CONFIDENTIAL   ·   EXL Service   ·   AI Auditor   ·  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33856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11896344" cy="621792"/>
          </a:xfrm>
          <a:prstGeom prst="rect">
            <a:avLst/>
          </a:prstGeom>
          <a:solidFill>
            <a:srgbClr val="F05A28"/>
          </a:solidFill>
        </p:spPr>
        <p:txBody>
          <a:bodyPr wrap="square" anchor="ctr"/>
          <a:lstStyle/>
          <a:p>
            <a:pPr algn="l"/>
            <a:r>
              <a:rPr sz="2600" b="1">
                <a:solidFill>
                  <a:srgbClr val="FFFFFF"/>
                </a:solidFill>
              </a:rPr>
              <a:t>AGENT DEEP-DIVE  —  ALL 8 AGENTS  &amp;  PHASE 3 TRANSACTIONAL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133856"/>
            <a:ext cx="12097512" cy="36576"/>
          </a:xfrm>
          <a:prstGeom prst="rect">
            <a:avLst/>
          </a:prstGeom>
          <a:solidFill>
            <a:srgbClr val="F5C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188720"/>
            <a:ext cx="1655064" cy="256032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800" b="1">
                <a:solidFill>
                  <a:srgbClr val="C84418"/>
                </a:solidFill>
              </a:rPr>
              <a:t>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93392" y="1188720"/>
            <a:ext cx="466344" cy="256032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800" b="1">
                <a:solidFill>
                  <a:srgbClr val="C84418"/>
                </a:solidFill>
              </a:rPr>
              <a:t>PH.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2032" y="1188720"/>
            <a:ext cx="2167128" cy="256032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800" b="1">
                <a:solidFill>
                  <a:srgbClr val="C84418"/>
                </a:solidFill>
              </a:rPr>
              <a:t>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91456" y="1188720"/>
            <a:ext cx="2295144" cy="256032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800" b="1">
                <a:solidFill>
                  <a:srgbClr val="C84418"/>
                </a:solidFill>
              </a:rPr>
              <a:t>KEY 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" y="1444752"/>
            <a:ext cx="1655064" cy="644652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Scope Identifier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93392" y="1444752"/>
            <a:ext cx="466344" cy="644652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05A28"/>
                </a:solidFill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1444752"/>
            <a:ext cx="2167128" cy="644652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Maps question to 48 FCPA scope areas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91456" y="1444752"/>
            <a:ext cx="2295144" cy="644652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718096"/>
                </a:solidFill>
              </a:rPr>
              <a:t>LLM 4-line output  ·  3-tier confidence routing  ·  retry once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" y="2089404"/>
            <a:ext cx="1655064" cy="644652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HCBI Policy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93392" y="2089404"/>
            <a:ext cx="466344" cy="644652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05A28"/>
                </a:solidFill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2032" y="2089404"/>
            <a:ext cx="2167128" cy="644652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Retrieves HCBI global policy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1456" y="2089404"/>
            <a:ext cx="2295144" cy="644652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718096"/>
                </a:solidFill>
              </a:rPr>
              <a:t>MQR n=2  ·  hcbi_policy_index  ·  top-k=5  ·  async gather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" y="2734056"/>
            <a:ext cx="1655064" cy="644652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Policy Knowledge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93392" y="2734056"/>
            <a:ext cx="466344" cy="644652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05A28"/>
                </a:solidFill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42032" y="2734056"/>
            <a:ext cx="2167128" cy="644652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Retrieves FCPA scope + DD policy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91456" y="2734056"/>
            <a:ext cx="2295144" cy="644652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718096"/>
                </a:solidFill>
              </a:rPr>
              <a:t>ScopePolicyTool (always)  ·  DDPolicyTool (DUE_DILIGENCE only)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" y="3378708"/>
            <a:ext cx="1655064" cy="644652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Supporting Docs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93392" y="3378708"/>
            <a:ext cx="466344" cy="644652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05A28"/>
                </a:solidFill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42032" y="3378708"/>
            <a:ext cx="2167128" cy="644652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Retrieves auditor-specific evidence docs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91456" y="3378708"/>
            <a:ext cx="2295144" cy="644652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718096"/>
                </a:solidFill>
              </a:rPr>
              <a:t>MQR n=3  ·  BM25+RRF reranker  ·  auditor_folder filter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" y="4023360"/>
            <a:ext cx="1655064" cy="644652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Risk Evaluation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93392" y="4023360"/>
            <a:ext cx="466344" cy="644652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05A28"/>
                </a:solidFill>
              </a:rPr>
              <a:t>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42032" y="4023360"/>
            <a:ext cx="2167128" cy="644652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Identifies compliance gaps + risk level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1456" y="4023360"/>
            <a:ext cx="2295144" cy="644652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718096"/>
                </a:solidFill>
              </a:rPr>
              <a:t>GPT-5 reasoning only  ·  sets transactional_intent flag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" y="4668012"/>
            <a:ext cx="1655064" cy="644652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Transactional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93392" y="4668012"/>
            <a:ext cx="466344" cy="644652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05A28"/>
                </a:solidFill>
              </a:rPr>
              <a:t>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42032" y="4668012"/>
            <a:ext cx="2167128" cy="644652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NL-to-SQL on payments / revenue tables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91456" y="4668012"/>
            <a:ext cx="2295144" cy="644652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718096"/>
                </a:solidFill>
              </a:rPr>
              <a:t>CONDITIONAL  ·  Delta tables  ·  quantitative signal required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" y="5312664"/>
            <a:ext cx="1655064" cy="644652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Risk Classifier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93392" y="5312664"/>
            <a:ext cx="466344" cy="644652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05A28"/>
                </a:solidFill>
              </a:rPr>
              <a:t>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42032" y="5312664"/>
            <a:ext cx="2167128" cy="644652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9-field structured risk classification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91456" y="5312664"/>
            <a:ext cx="2295144" cy="644652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718096"/>
                </a:solidFill>
              </a:rPr>
              <a:t>Risk Type · Category · Evidence · Gap · GL Mismatch · Scope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032" y="5957316"/>
            <a:ext cx="1655064" cy="644652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1A1A2E"/>
                </a:solidFill>
              </a:rPr>
              <a:t>Risk Writer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93392" y="5957316"/>
            <a:ext cx="466344" cy="644652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05A28"/>
                </a:solidFill>
              </a:rPr>
              <a:t>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42032" y="5957316"/>
            <a:ext cx="2167128" cy="644652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Generates all final output fields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91456" y="5957316"/>
            <a:ext cx="2295144" cy="644652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718096"/>
                </a:solidFill>
              </a:rPr>
              <a:t>Risk Title/Desc/Rationale  ·  Scope Reasoning  ·  Excel save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6032" y="6400800"/>
            <a:ext cx="6912864" cy="237744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  Guardrails G1-G10 on all agents  ·  Pydantic structured-output validation  ·  SQL safety: SELECT-only · try_cast · deterministic LIMIT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78624" y="1188720"/>
            <a:ext cx="4782312" cy="23774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C84418"/>
                </a:solidFill>
              </a:rPr>
              <a:t>  PHASE 3  —  TRANSACTIONAL DATA ANALYSIS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78624" y="1426464"/>
            <a:ext cx="4782312" cy="329184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AI-driven  ·  Runs ONCE after all question rows
All 48 FCPA scopes  ·  Concurrent thread pool (6 workers)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78624" y="1755648"/>
            <a:ext cx="694944" cy="737616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84418"/>
                </a:solidFill>
              </a:rPr>
              <a:t>LOAD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91856" y="1755648"/>
            <a:ext cx="4069080" cy="737616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CPR guidance for all 48 scopes
risk_profile · red_flags · data_calculations
sampling_rationale · expected_sample_size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78624" y="2520696"/>
            <a:ext cx="694944" cy="737616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84418"/>
                </a:solidFill>
              </a:rPr>
              <a:t>STEP 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91856" y="2520696"/>
            <a:ext cx="4069080" cy="737616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LLM: Data Calculations (col I) to SQL
Uses FCPA intelligence if guidance thin
try_cast for STRING numerics  ·  LIMIT 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78624" y="3285744"/>
            <a:ext cx="694944" cy="737616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84418"/>
                </a:solidFill>
              </a:rPr>
              <a:t>STEP 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91856" y="3285744"/>
            <a:ext cx="4069080" cy="737616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Execute SQL against Delta tables
Scope-specific computed data result
Falls back to shared summary if empty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78624" y="4050792"/>
            <a:ext cx="694944" cy="737616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84418"/>
                </a:solidFill>
              </a:rPr>
              <a:t>STEP 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91856" y="4050792"/>
            <a:ext cx="4069080" cy="737616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LLM: ONE consolidated risk assessment
Risk Type · Risk Category · Score
Description + Rationale (all concerns merged)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78624" y="4815840"/>
            <a:ext cx="694944" cy="737616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84418"/>
                </a:solidFill>
              </a:rPr>
              <a:t>STEP 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91856" y="4815840"/>
            <a:ext cx="4069080" cy="737616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If risk detected: pull transaction samples
SELECT *  LIMIT = Expected Sample Size + 5
Exact source table from query FROM clause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78624" y="5580888"/>
            <a:ext cx="694944" cy="737616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84418"/>
                </a:solidFill>
              </a:rPr>
              <a:t>OUTPUT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91856" y="5580888"/>
            <a:ext cx="4069080" cy="737616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~48 rows (one per scope area)
No Risk scopes emit row with no samples
Appended to Excel after question rows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6032" y="6638544"/>
            <a:ext cx="11804904" cy="219456"/>
          </a:xfrm>
          <a:prstGeom prst="rect">
            <a:avLst/>
          </a:prstGeom>
          <a:solidFill>
            <a:srgbClr val="F7F7F7"/>
          </a:solidFill>
        </p:spPr>
        <p:txBody>
          <a:bodyPr wrap="square" anchor="ctr"/>
          <a:lstStyle/>
          <a:p>
            <a:pPr algn="ctr"/>
            <a:r>
              <a:rPr sz="750" b="0">
                <a:solidFill>
                  <a:srgbClr val="A0AEBE"/>
                </a:solidFill>
              </a:rPr>
              <a:t>CONFIDENTIAL   ·   EXL Service   ·   AI Auditor   ·  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33856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11896344" cy="621792"/>
          </a:xfrm>
          <a:prstGeom prst="rect">
            <a:avLst/>
          </a:prstGeom>
          <a:solidFill>
            <a:srgbClr val="F05A28"/>
          </a:solidFill>
        </p:spPr>
        <p:txBody>
          <a:bodyPr wrap="square" anchor="ctr"/>
          <a:lstStyle/>
          <a:p>
            <a:pPr algn="l"/>
            <a:r>
              <a:rPr sz="2600" b="1">
                <a:solidFill>
                  <a:srgbClr val="FFFFFF"/>
                </a:solidFill>
              </a:rPr>
              <a:t>OUTPUT  ·  GOVERNANCE  ·  OBSERVABILITY  ·  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133856"/>
            <a:ext cx="12097512" cy="36576"/>
          </a:xfrm>
          <a:prstGeom prst="rect">
            <a:avLst/>
          </a:prstGeom>
          <a:solidFill>
            <a:srgbClr val="F5C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188720"/>
            <a:ext cx="3874008" cy="23774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C84418"/>
                </a:solidFill>
              </a:rPr>
              <a:t>  OUTPUT  —  FCPA_Audit_&lt;AUDITOR_ID&gt;_&lt;ts&gt;.xlsx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426464"/>
            <a:ext cx="3874008" cy="201168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84418"/>
                </a:solidFill>
              </a:rPr>
              <a:t>  Output A — Risk Detail (per question + Phase 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1627632"/>
            <a:ext cx="3874008" cy="274320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  Risk Title  ·  Risk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1901952"/>
            <a:ext cx="3874008" cy="274320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  Risk Category  ·  Risk Category Reasoning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" y="2176272"/>
            <a:ext cx="3874008" cy="274320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  Risk Rationale  ·  Risk 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" y="2450592"/>
            <a:ext cx="3874008" cy="274320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  Scope Area  ·  Scope Area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" y="2724912"/>
            <a:ext cx="3874008" cy="274320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  Evidence Explanation  ·  Calculation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2999232"/>
            <a:ext cx="3874008" cy="274320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  Samples (transaction rows)  ·  Source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" y="3273552"/>
            <a:ext cx="3874008" cy="274320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  Question  ·  Response  ·  Follow-up Q &amp; 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" y="3547872"/>
            <a:ext cx="3874008" cy="201168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84418"/>
                </a:solidFill>
              </a:rPr>
              <a:t>  Output B — Scope 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" y="3749040"/>
            <a:ext cx="3874008" cy="219456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  Count: Potential Risk  ·  Further Review  ·  No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" y="3968496"/>
            <a:ext cx="3874008" cy="219456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  Top compliance gaps  ·  Average category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" y="4187952"/>
            <a:ext cx="3874008" cy="219456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00" b="0">
                <a:solidFill>
                  <a:srgbClr val="4A5568"/>
                </a:solidFill>
              </a:rPr>
              <a:t>  Row colour: High=red · Med/Low=yellow · No Risk=none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" y="4462272"/>
            <a:ext cx="3874008" cy="23774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C84418"/>
                </a:solidFill>
              </a:rPr>
              <a:t>  GOVERNANCE &amp; GUARDRAILS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" y="4700016"/>
            <a:ext cx="3874008" cy="242316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  G1-G10 guardrails on all 8 agent system prompts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" y="4942332"/>
            <a:ext cx="3874008" cy="242316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  G1-G6: hallucination · data invention · bias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" y="5184648"/>
            <a:ext cx="3874008" cy="242316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          FCPA scope · no legal advice · PII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" y="5426964"/>
            <a:ext cx="3874008" cy="242316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  G7-G10: valid scope IDs · exact output format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" y="5669280"/>
            <a:ext cx="3874008" cy="242316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           confidence calibration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" y="5911596"/>
            <a:ext cx="3874008" cy="242316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  Pydantic structured-output on every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" y="6153912"/>
            <a:ext cx="3874008" cy="242316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  SQL: SELECT-only · try_cast · LIMIT override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" y="6396228"/>
            <a:ext cx="3874008" cy="242316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  FastAPI: X-API-Key · 10 req/min · sanitization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21480" y="1188720"/>
            <a:ext cx="3874008" cy="23774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C84418"/>
                </a:solidFill>
              </a:rPr>
              <a:t>  OBSERVABILITY  —  Lakebase Postgres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21480" y="1426464"/>
            <a:ext cx="3874008" cy="201168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84418"/>
                </a:solidFill>
              </a:rPr>
              <a:t>  Observability Store (OTEL)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21480" y="1627632"/>
            <a:ext cx="3874008" cy="670560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OpenTelemetry protocol emitted by every agent
and the pipeline on every call.
Captures: traces · spans · metrics · logs
Backend: Lakebase Postgres (Databricks)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21480" y="2298192"/>
            <a:ext cx="3874008" cy="201168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84418"/>
                </a:solidFill>
              </a:rPr>
              <a:t>  Feedback Table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21480" y="2499360"/>
            <a:ext cx="3874008" cy="670560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End-user feedback captured on the UI.
Rating + comments per finding.
Keyed to: job_id · question_id · scope_id
Backend: Lakebase Postgres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21480" y="3169920"/>
            <a:ext cx="3874008" cy="201168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84418"/>
                </a:solidFill>
              </a:rPr>
              <a:t>  Prior Audit Context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21480" y="3371088"/>
            <a:ext cx="3874008" cy="670560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Past audit summaries surfaced per question.
PastAuditSummarizerAgent condenses prior
findings injected into Risk Evaluation
agent context window.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21480" y="4096512"/>
            <a:ext cx="3874008" cy="23774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C84418"/>
                </a:solidFill>
              </a:rPr>
              <a:t>  FASTAPI LAYER  (async)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21480" y="4334256"/>
            <a:ext cx="3874008" cy="384048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00" b="1">
                <a:solidFill>
                  <a:srgbClr val="1A1A2E"/>
                </a:solidFill>
              </a:rPr>
              <a:t>POST /audit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AuditRequest → background task → job_id (202)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21480" y="4718304"/>
            <a:ext cx="3874008" cy="38404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00" b="1">
                <a:solidFill>
                  <a:srgbClr val="1A1A2E"/>
                </a:solidFill>
              </a:rPr>
              <a:t>GET /status/{job_id}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Poll: pending / complete / failed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21480" y="5102352"/>
            <a:ext cx="3874008" cy="384048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00" b="1">
                <a:solidFill>
                  <a:srgbClr val="1A1A2E"/>
                </a:solidFill>
              </a:rPr>
              <a:t>GET /health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Liveness probe (200 if process is up)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21480" y="5486400"/>
            <a:ext cx="3874008" cy="38404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00" b="1">
                <a:solidFill>
                  <a:srgbClr val="1A1A2E"/>
                </a:solidFill>
              </a:rPr>
              <a:t>GET /ready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Vector Search + LLM connectivity check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21480" y="5870448"/>
            <a:ext cx="3874008" cy="384048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800" b="1">
                <a:solidFill>
                  <a:srgbClr val="1A1A2E"/>
                </a:solidFill>
              </a:rPr>
              <a:t>Auth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SSO on UI  ·  X-API-Key on backend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21480" y="6254496"/>
            <a:ext cx="3874008" cy="384048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800" b="1">
                <a:solidFill>
                  <a:srgbClr val="1A1A2E"/>
                </a:solidFill>
              </a:rPr>
              <a:t>Safety</a:t>
            </a:r>
          </a:p>
          <a:p>
            <a:pPr algn="l"/>
            <a:r>
              <a:rPr sz="750" b="0">
                <a:solidFill>
                  <a:srgbClr val="4A5568"/>
                </a:solidFill>
              </a:rPr>
              <a:t>Rate limit 10 req/min  ·  Input sanitization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86928" y="1188720"/>
            <a:ext cx="3874008" cy="237744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l"/>
            <a:r>
              <a:rPr sz="850" b="1">
                <a:solidFill>
                  <a:srgbClr val="C84418"/>
                </a:solidFill>
              </a:rPr>
              <a:t>  TECHNOLOGY STACK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6928" y="1426464"/>
            <a:ext cx="3874008" cy="201168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84418"/>
                </a:solidFill>
              </a:rPr>
              <a:t>  AI / LLM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86928" y="1627632"/>
            <a:ext cx="3874008" cy="1101852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Azure OpenAI GPT-5
  All 8 agents · Phase 3 · MQR generation
Azure OpenAI text-embedding-3-large
  3072 dims · ingestion + all retrieval
LangChain · LangGraph (supervisor + ReAct)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6928" y="2729484"/>
            <a:ext cx="3874008" cy="201168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84418"/>
                </a:solidFill>
              </a:rPr>
              <a:t>  Retrieval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86928" y="2930652"/>
            <a:ext cx="3874008" cy="1101852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Databricks Vector Search  (4 indexes)
BM25Reranker + RRF fusion  (rank-bm25)
MultiQueryRetriever  (n=2 or 3 phrasings)
ContextAggregator: HCBI &gt; Policy &gt; Docs
Delta Lake  (transactional data tables)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6928" y="4032504"/>
            <a:ext cx="3874008" cy="201168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84418"/>
                </a:solidFill>
              </a:rPr>
              <a:t>  Document Ingestion / OCR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86928" y="4233672"/>
            <a:ext cx="3874008" cy="1101852"/>
          </a:xfrm>
          <a:prstGeom prst="rect">
            <a:avLst/>
          </a:prstGeom>
          <a:solidFill>
            <a:srgbClr val="FDF3E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Azure Document Intelligence (prebuilt-read)
Tesseract OCR  (fallback)
pdfplumber · PyMuPDF  (PDF pages)
python-pptx · python-docx · openpyxl
BeautifulSoup · extract-msg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86928" y="5335524"/>
            <a:ext cx="3874008" cy="201168"/>
          </a:xfrm>
          <a:prstGeom prst="rect">
            <a:avLst/>
          </a:prstGeom>
          <a:solidFill>
            <a:srgbClr val="FDE8DC"/>
          </a:solidFill>
        </p:spPr>
        <p:txBody>
          <a:bodyPr wrap="square" anchor="ctr"/>
          <a:lstStyle/>
          <a:p>
            <a:pPr algn="ctr"/>
            <a:r>
              <a:rPr sz="750" b="1">
                <a:solidFill>
                  <a:srgbClr val="C84418"/>
                </a:solidFill>
              </a:rPr>
              <a:t>  Platform / Infrastructure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86928" y="5536692"/>
            <a:ext cx="3874008" cy="1101852"/>
          </a:xfrm>
          <a:prstGeom prst="rect">
            <a:avLst/>
          </a:prstGeom>
          <a:solidFill>
            <a:srgbClr val="FFFFFF"/>
          </a:solidFill>
        </p:spPr>
        <p:txBody>
          <a:bodyPr wrap="square" anchor="ctr"/>
          <a:lstStyle/>
          <a:p>
            <a:pPr algn="l"/>
            <a:r>
              <a:rPr sz="750" b="0">
                <a:solidFill>
                  <a:srgbClr val="4A5568"/>
                </a:solidFill>
              </a:rPr>
              <a:t>Databricks Unity Catalog on Azure
Lakebase Postgres  (observability + feedback)
OpenTelemetry (OTEL)  ·  FastAPI  ·  asyncio
SQLAlchemy · Pydantic · pydantic-settings
openpyxl  (Excel output)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56032" y="6638544"/>
            <a:ext cx="11804904" cy="219456"/>
          </a:xfrm>
          <a:prstGeom prst="rect">
            <a:avLst/>
          </a:prstGeom>
          <a:solidFill>
            <a:srgbClr val="F7F7F7"/>
          </a:solidFill>
        </p:spPr>
        <p:txBody>
          <a:bodyPr wrap="square" anchor="ctr"/>
          <a:lstStyle/>
          <a:p>
            <a:pPr algn="ctr"/>
            <a:r>
              <a:rPr sz="750" b="0">
                <a:solidFill>
                  <a:srgbClr val="A0AEBE"/>
                </a:solidFill>
              </a:rPr>
              <a:t>CONFIDENTIAL   ·   EXL Service   ·   AI Auditor   ·  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