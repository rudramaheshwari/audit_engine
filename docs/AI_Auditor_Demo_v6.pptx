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44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896344" cy="603504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AI AUDITOR  —  MULTI-AGENT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676656"/>
            <a:ext cx="11896344" cy="347472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l"/>
            <a:r>
              <a:rPr sz="950" b="0">
                <a:solidFill>
                  <a:srgbClr val="FFD5C2"/>
                </a:solidFill>
              </a:rPr>
              <a:t>Johnson &amp; Johnson   ·   TPI Due Diligence Compliance Automation   ·   Powered by LangGraph + Azure OpenAI GPT-5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1115568"/>
            <a:ext cx="12097512" cy="54864"/>
          </a:xfrm>
          <a:prstGeom prst="rect">
            <a:avLst/>
          </a:prstGeom>
          <a:solidFill>
            <a:srgbClr val="F5C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062472"/>
            <a:ext cx="12188952" cy="27432"/>
          </a:xfrm>
          <a:prstGeom prst="rect">
            <a:avLst/>
          </a:prstGeom>
          <a:solidFill>
            <a:srgbClr val="F5C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089904"/>
            <a:ext cx="2031492" cy="548640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8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AI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1492" y="6089904"/>
            <a:ext cx="2031492" cy="548640"/>
          </a:xfrm>
          <a:prstGeom prst="rect">
            <a:avLst/>
          </a:prstGeom>
          <a:solidFill>
            <a:srgbClr val="C44018"/>
          </a:solidFill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48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FCPA Scopes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2984" y="6089904"/>
            <a:ext cx="2031492" cy="548640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Vector Indexes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4476" y="6089904"/>
            <a:ext cx="2031492" cy="548640"/>
          </a:xfrm>
          <a:prstGeom prst="rect">
            <a:avLst/>
          </a:prstGeom>
          <a:solidFill>
            <a:srgbClr val="C44018"/>
          </a:solidFill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Policy Layers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5968" y="6089904"/>
            <a:ext cx="2031492" cy="548640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3,072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Embedding Dims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57460" y="6089904"/>
            <a:ext cx="2031492" cy="548640"/>
          </a:xfrm>
          <a:prstGeom prst="rect">
            <a:avLst/>
          </a:prstGeom>
          <a:solidFill>
            <a:srgbClr val="C44018"/>
          </a:solidFill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GPT-5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LLM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170432"/>
            <a:ext cx="3892296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44018"/>
                </a:solidFill>
              </a:rPr>
              <a:t>    What Is 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408176"/>
            <a:ext cx="3892296" cy="4645152"/>
          </a:xfrm>
          <a:prstGeom prst="rect">
            <a:avLst/>
          </a:prstGeom>
          <a:solidFill>
            <a:srgbClr val="FDF3EF"/>
          </a:solidFill>
        </p:spPr>
        <p:txBody>
          <a:bodyPr wrap="square" anchor="t"/>
          <a:lstStyle/>
          <a:p>
            <a:pPr algn="l"/>
            <a:r>
              <a:rPr sz="900" b="0">
                <a:solidFill>
                  <a:srgbClr val="1A1A2E"/>
                </a:solidFill>
              </a:rPr>
              <a:t>An AI-native audit engine that automates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the manual TPI Due Diligence review process.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 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Auditors upload questionnaire Q&amp;A responses.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Eight specialised AI agents analyse every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question against three policy layers and the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auditor's own supporting evidence documents,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then produce a risk-classified, evidence-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backed Excel report — automatically.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 </a:t>
            </a:r>
          </a:p>
          <a:p>
            <a:pPr algn="l"/>
            <a:r>
              <a:rPr sz="900" b="1">
                <a:solidFill>
                  <a:srgbClr val="4A5568"/>
                </a:solidFill>
              </a:rPr>
              <a:t>Platform:         Databricks on Azure</a:t>
            </a:r>
          </a:p>
          <a:p>
            <a:pPr algn="l"/>
            <a:r>
              <a:rPr sz="900" b="1">
                <a:solidFill>
                  <a:srgbClr val="4A5568"/>
                </a:solidFill>
              </a:rPr>
              <a:t>LLM:                Azure OpenAI GPT-5</a:t>
            </a:r>
          </a:p>
          <a:p>
            <a:pPr algn="l"/>
            <a:r>
              <a:rPr sz="900" b="1">
                <a:solidFill>
                  <a:srgbClr val="4A5568"/>
                </a:solidFill>
              </a:rPr>
              <a:t>Orchestration:  LangGraph supervisor</a:t>
            </a:r>
          </a:p>
          <a:p>
            <a:pPr algn="l"/>
            <a:r>
              <a:rPr sz="900" b="1">
                <a:solidFill>
                  <a:srgbClr val="4A5568"/>
                </a:solidFill>
              </a:rPr>
              <a:t>Retrieval:          Databricks Vector Search</a:t>
            </a:r>
          </a:p>
          <a:p>
            <a:pPr algn="l"/>
            <a:r>
              <a:rPr sz="900" b="1">
                <a:solidFill>
                  <a:srgbClr val="4A5568"/>
                </a:solidFill>
              </a:rPr>
              <a:t>Output:             Excel (colour-coded)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4904" y="1170432"/>
            <a:ext cx="3892296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44018"/>
                </a:solidFill>
              </a:rPr>
              <a:t>    Challenges Addressed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4904" y="1408176"/>
            <a:ext cx="3892296" cy="663593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Manual review bottleneck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Hours per question, inconsistent across auditors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4904" y="2071769"/>
            <a:ext cx="3892296" cy="663593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Policy coverage gaps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HCBI global vs. local TPI policy conflicts missed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84904" y="2735362"/>
            <a:ext cx="3892296" cy="663593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No evidence linkage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Findings not grounded in supporting documents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4904" y="3398955"/>
            <a:ext cx="3892296" cy="663593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Missing scope mapping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Questions not mapped to 48 FCPA audit scopes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84904" y="4062548"/>
            <a:ext cx="3892296" cy="663593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Transactional blind spot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No automated check on payments / revenue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84904" y="4726141"/>
            <a:ext cx="3892296" cy="663593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No audit trail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Reasoning not captured; findings not reproducible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4904" y="5389734"/>
            <a:ext cx="3892296" cy="663593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Manual Excel reporting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Time-consuming, error-prone, no risk colour-coding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8640" y="1170432"/>
            <a:ext cx="3892296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44018"/>
                </a:solidFill>
              </a:rPr>
              <a:t>    Value Delivered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8640" y="1408176"/>
            <a:ext cx="3892296" cy="663593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8 specialised AI agents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Analyse every question across parallel phases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8640" y="2071769"/>
            <a:ext cx="3892296" cy="663593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3 policy layers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HCBI + local TPI + FCPA scope guidance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8640" y="2735362"/>
            <a:ext cx="3892296" cy="663593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Hybrid retrieval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BM25 reranker fused with semantic vector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8640" y="3398955"/>
            <a:ext cx="3892296" cy="663593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NL-to-SQL on Delta tables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Automated payments &amp; revenue transactional checks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4062548"/>
            <a:ext cx="3892296" cy="663593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48 FCPA scopes covered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Every scope area analysed in Phase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8640" y="4726141"/>
            <a:ext cx="3892296" cy="663593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Evidence-backed findings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Every risk linked to source documents by 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8640" y="5389734"/>
            <a:ext cx="3892296" cy="663593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Auto-generated Excel report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Colour-coded by risk category, incremental save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1168" y="6638544"/>
            <a:ext cx="11859768" cy="219456"/>
          </a:xfrm>
          <a:prstGeom prst="rect">
            <a:avLst/>
          </a:prstGeom>
          <a:solidFill>
            <a:srgbClr val="F7F7F7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A0AEBE"/>
                </a:solidFill>
              </a:rPr>
              <a:t>CONFIDENTIAL   ·   EXL Service   ·   AI Auditor   · 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44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896344" cy="603504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HOW IT WORKS  —  FROM MANUAL TO AI-DRIVEN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676656"/>
            <a:ext cx="11896344" cy="347472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l"/>
            <a:r>
              <a:rPr sz="950" b="0">
                <a:solidFill>
                  <a:srgbClr val="FFD5C2"/>
                </a:solidFill>
              </a:rPr>
              <a:t>Transforming hours of manual policy review into automated, evidence-backed, consistent risk 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1115568"/>
            <a:ext cx="12097512" cy="54864"/>
          </a:xfrm>
          <a:prstGeom prst="rect">
            <a:avLst/>
          </a:prstGeom>
          <a:solidFill>
            <a:srgbClr val="F5C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73184" y="1170432"/>
            <a:ext cx="2514600" cy="5468112"/>
          </a:xfrm>
          <a:prstGeom prst="rect">
            <a:avLst/>
          </a:prstGeom>
          <a:solidFill>
            <a:srgbClr val="8B2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46336" y="1225296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05A28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1207008"/>
            <a:ext cx="2039112" cy="347472"/>
          </a:xfrm>
          <a:prstGeom prst="rect">
            <a:avLst/>
          </a:prstGeom>
          <a:solidFill>
            <a:srgbClr val="8B2C08"/>
          </a:solidFill>
        </p:spPr>
        <p:txBody>
          <a:bodyPr wrap="square" anchor="ctr"/>
          <a:lstStyle/>
          <a:p>
            <a:pPr algn="l"/>
            <a:r>
              <a:rPr sz="1050" b="1">
                <a:solidFill>
                  <a:srgbClr val="FFFFFF"/>
                </a:solidFill>
              </a:rPr>
              <a:t>Key Benefits</a:t>
            </a:r>
          </a:p>
          <a:p>
            <a:pPr algn="l"/>
            <a:r>
              <a:rPr sz="1050" b="1">
                <a:solidFill>
                  <a:srgbClr val="FFFFFF"/>
                </a:solidFill>
              </a:rPr>
              <a:t>and 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46336" y="1645920"/>
            <a:ext cx="2368296" cy="2743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46336" y="1719072"/>
            <a:ext cx="2368296" cy="1197864"/>
          </a:xfrm>
          <a:prstGeom prst="rect">
            <a:avLst/>
          </a:prstGeom>
          <a:solidFill>
            <a:srgbClr val="9E3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82912" y="1755648"/>
            <a:ext cx="2295144" cy="310896"/>
          </a:xfrm>
          <a:prstGeom prst="rect">
            <a:avLst/>
          </a:prstGeom>
          <a:solidFill>
            <a:srgbClr val="9E320A"/>
          </a:solidFill>
        </p:spPr>
        <p:txBody>
          <a:bodyPr wrap="square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80%+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82912" y="2029968"/>
            <a:ext cx="2295144" cy="219456"/>
          </a:xfrm>
          <a:prstGeom prst="rect">
            <a:avLst/>
          </a:prstGeom>
          <a:solidFill>
            <a:srgbClr val="9E320A"/>
          </a:solidFill>
        </p:spPr>
        <p:txBody>
          <a:bodyPr wrap="square" anchor="ctr"/>
          <a:lstStyle/>
          <a:p>
            <a:pPr algn="l"/>
            <a:r>
              <a:rPr sz="900" b="1">
                <a:solidFill>
                  <a:srgbClr val="F5CAB8"/>
                </a:solidFill>
              </a:rPr>
              <a:t>Time Saved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82912" y="2231136"/>
            <a:ext cx="2295144" cy="630936"/>
          </a:xfrm>
          <a:prstGeom prst="rect">
            <a:avLst/>
          </a:prstGeom>
          <a:solidFill>
            <a:srgbClr val="9E320A"/>
          </a:solidFill>
        </p:spPr>
        <p:txBody>
          <a:bodyPr wrap="square" anchor="t"/>
          <a:lstStyle/>
          <a:p>
            <a:pPr algn="l"/>
            <a:r>
              <a:rPr sz="750" b="0">
                <a:solidFill>
                  <a:srgbClr val="F5CAB8"/>
                </a:solidFill>
              </a:rPr>
              <a:t>Audit questions processed
in minutes, not hours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46336" y="2953512"/>
            <a:ext cx="2368296" cy="1197864"/>
          </a:xfrm>
          <a:prstGeom prst="rect">
            <a:avLst/>
          </a:prstGeom>
          <a:solidFill>
            <a:srgbClr val="9E3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82912" y="2990088"/>
            <a:ext cx="2295144" cy="310896"/>
          </a:xfrm>
          <a:prstGeom prst="rect">
            <a:avLst/>
          </a:prstGeom>
          <a:solidFill>
            <a:srgbClr val="9E320A"/>
          </a:solidFill>
        </p:spPr>
        <p:txBody>
          <a:bodyPr wrap="square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2912" y="3264408"/>
            <a:ext cx="2295144" cy="219456"/>
          </a:xfrm>
          <a:prstGeom prst="rect">
            <a:avLst/>
          </a:prstGeom>
          <a:solidFill>
            <a:srgbClr val="9E320A"/>
          </a:solidFill>
        </p:spPr>
        <p:txBody>
          <a:bodyPr wrap="square" anchor="ctr"/>
          <a:lstStyle/>
          <a:p>
            <a:pPr algn="l"/>
            <a:r>
              <a:rPr sz="900" b="1">
                <a:solidFill>
                  <a:srgbClr val="F5CAB8"/>
                </a:solidFill>
              </a:rPr>
              <a:t>Policy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2912" y="3465576"/>
            <a:ext cx="2295144" cy="630936"/>
          </a:xfrm>
          <a:prstGeom prst="rect">
            <a:avLst/>
          </a:prstGeom>
          <a:solidFill>
            <a:srgbClr val="9E320A"/>
          </a:solidFill>
        </p:spPr>
        <p:txBody>
          <a:bodyPr wrap="square" anchor="t"/>
          <a:lstStyle/>
          <a:p>
            <a:pPr algn="l"/>
            <a:r>
              <a:rPr sz="750" b="0">
                <a:solidFill>
                  <a:srgbClr val="F5CAB8"/>
                </a:solidFill>
              </a:rPr>
              <a:t>HCBI + local TPI + FCPA
scope checked every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46336" y="4187952"/>
            <a:ext cx="2368296" cy="1197864"/>
          </a:xfrm>
          <a:prstGeom prst="rect">
            <a:avLst/>
          </a:prstGeom>
          <a:solidFill>
            <a:srgbClr val="9E3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2912" y="4224528"/>
            <a:ext cx="2295144" cy="310896"/>
          </a:xfrm>
          <a:prstGeom prst="rect">
            <a:avLst/>
          </a:prstGeom>
          <a:solidFill>
            <a:srgbClr val="9E320A"/>
          </a:solidFill>
        </p:spPr>
        <p:txBody>
          <a:bodyPr wrap="square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8x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82912" y="4498848"/>
            <a:ext cx="2295144" cy="219456"/>
          </a:xfrm>
          <a:prstGeom prst="rect">
            <a:avLst/>
          </a:prstGeom>
          <a:solidFill>
            <a:srgbClr val="9E320A"/>
          </a:solidFill>
        </p:spPr>
        <p:txBody>
          <a:bodyPr wrap="square" anchor="ctr"/>
          <a:lstStyle/>
          <a:p>
            <a:pPr algn="l"/>
            <a:r>
              <a:rPr sz="900" b="1">
                <a:solidFill>
                  <a:srgbClr val="F5CAB8"/>
                </a:solidFill>
              </a:rPr>
              <a:t>Evidence Linkage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2912" y="4700016"/>
            <a:ext cx="2295144" cy="630936"/>
          </a:xfrm>
          <a:prstGeom prst="rect">
            <a:avLst/>
          </a:prstGeom>
          <a:solidFill>
            <a:srgbClr val="9E320A"/>
          </a:solidFill>
        </p:spPr>
        <p:txBody>
          <a:bodyPr wrap="square" anchor="t"/>
          <a:lstStyle/>
          <a:p>
            <a:pPr algn="l"/>
            <a:r>
              <a:rPr sz="750" b="0">
                <a:solidFill>
                  <a:srgbClr val="F5CAB8"/>
                </a:solidFill>
              </a:rPr>
              <a:t>Every finding grounded in
actual source documents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46336" y="5422392"/>
            <a:ext cx="2368296" cy="1197864"/>
          </a:xfrm>
          <a:prstGeom prst="rect">
            <a:avLst/>
          </a:prstGeom>
          <a:solidFill>
            <a:srgbClr val="9E3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82912" y="5458968"/>
            <a:ext cx="2295144" cy="310896"/>
          </a:xfrm>
          <a:prstGeom prst="rect">
            <a:avLst/>
          </a:prstGeom>
          <a:solidFill>
            <a:srgbClr val="9E320A"/>
          </a:solidFill>
        </p:spPr>
        <p:txBody>
          <a:bodyPr wrap="square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2912" y="5733288"/>
            <a:ext cx="2295144" cy="219456"/>
          </a:xfrm>
          <a:prstGeom prst="rect">
            <a:avLst/>
          </a:prstGeom>
          <a:solidFill>
            <a:srgbClr val="9E320A"/>
          </a:solidFill>
        </p:spPr>
        <p:txBody>
          <a:bodyPr wrap="square" anchor="ctr"/>
          <a:lstStyle/>
          <a:p>
            <a:pPr algn="l"/>
            <a:r>
              <a:rPr sz="900" b="1">
                <a:solidFill>
                  <a:srgbClr val="F5CAB8"/>
                </a:solidFill>
              </a:rPr>
              <a:t>Scopes Analysed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5934456"/>
            <a:ext cx="2295144" cy="630936"/>
          </a:xfrm>
          <a:prstGeom prst="rect">
            <a:avLst/>
          </a:prstGeom>
          <a:solidFill>
            <a:srgbClr val="9E320A"/>
          </a:solidFill>
        </p:spPr>
        <p:txBody>
          <a:bodyPr wrap="square" anchor="t"/>
          <a:lstStyle/>
          <a:p>
            <a:pPr algn="l"/>
            <a:r>
              <a:rPr sz="750" b="0">
                <a:solidFill>
                  <a:srgbClr val="F5CAB8"/>
                </a:solidFill>
              </a:rPr>
              <a:t>Full transactional check
across all FCPA scope areas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" y="1170432"/>
            <a:ext cx="9180576" cy="274320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37744" y="1179576"/>
            <a:ext cx="256032" cy="256032"/>
          </a:xfrm>
          <a:prstGeom prst="ellipse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1170432"/>
            <a:ext cx="4572000" cy="274320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950" b="1">
                <a:solidFill>
                  <a:srgbClr val="C44018"/>
                </a:solidFill>
              </a:rPr>
              <a:t>As-Is  —  Current Manual Audit Process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1170432"/>
            <a:ext cx="2926080" cy="274320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r"/>
            <a:r>
              <a:rPr sz="800" b="0">
                <a:solidFill>
                  <a:srgbClr val="4A5568"/>
                </a:solidFill>
              </a:rPr>
              <a:t>Manual   ·   Hours per Question   ·   Inconsistent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" y="2043684"/>
            <a:ext cx="9180576" cy="45720"/>
          </a:xfrm>
          <a:prstGeom prst="rect">
            <a:avLst/>
          </a:prstGeom>
          <a:solidFill>
            <a:srgbClr val="F5C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01168" y="2043684"/>
            <a:ext cx="8721547" cy="457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1168" y="1463040"/>
            <a:ext cx="1502664" cy="420624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1A1A2E"/>
                </a:solidFill>
              </a:rPr>
              <a:t>Receive Q&amp;A</a:t>
            </a:r>
          </a:p>
        </p:txBody>
      </p:sp>
      <p:sp>
        <p:nvSpPr>
          <p:cNvPr id="35" name="Oval 34"/>
          <p:cNvSpPr/>
          <p:nvPr/>
        </p:nvSpPr>
        <p:spPr>
          <a:xfrm>
            <a:off x="801624" y="1901952"/>
            <a:ext cx="329184" cy="329184"/>
          </a:xfrm>
          <a:prstGeom prst="ellipse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" y="2267712"/>
            <a:ext cx="1502664" cy="138988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4A5568"/>
                </a:solidFill>
              </a:rPr>
              <a:t>Questionnaire
question + auditor
response received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1264" y="1463040"/>
            <a:ext cx="1502664" cy="420624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1A1A2E"/>
                </a:solidFill>
              </a:rPr>
              <a:t>HCBI Lookup</a:t>
            </a:r>
          </a:p>
        </p:txBody>
      </p:sp>
      <p:sp>
        <p:nvSpPr>
          <p:cNvPr id="38" name="Oval 37"/>
          <p:cNvSpPr/>
          <p:nvPr/>
        </p:nvSpPr>
        <p:spPr>
          <a:xfrm>
            <a:off x="2331720" y="1901952"/>
            <a:ext cx="329184" cy="329184"/>
          </a:xfrm>
          <a:prstGeom prst="ellipse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ii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1264" y="2267712"/>
            <a:ext cx="1502664" cy="138988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4A5568"/>
                </a:solidFill>
              </a:rPr>
              <a:t>Manually search
115-page global
policy PDF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61360" y="1463040"/>
            <a:ext cx="1502664" cy="420624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1A1A2E"/>
                </a:solidFill>
              </a:rPr>
              <a:t>Local Policy</a:t>
            </a:r>
          </a:p>
        </p:txBody>
      </p:sp>
      <p:sp>
        <p:nvSpPr>
          <p:cNvPr id="41" name="Oval 40"/>
          <p:cNvSpPr/>
          <p:nvPr/>
        </p:nvSpPr>
        <p:spPr>
          <a:xfrm>
            <a:off x="3861816" y="1901952"/>
            <a:ext cx="329184" cy="329184"/>
          </a:xfrm>
          <a:prstGeom prst="ellipse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iii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61360" y="2267712"/>
            <a:ext cx="1502664" cy="138988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4A5568"/>
                </a:solidFill>
              </a:rPr>
              <a:t>Review TPEC,
Red Flag &amp; SOP
policy documents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91456" y="1463040"/>
            <a:ext cx="1502664" cy="420624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1A1A2E"/>
                </a:solidFill>
              </a:rPr>
              <a:t>Evidence Read</a:t>
            </a:r>
          </a:p>
        </p:txBody>
      </p:sp>
      <p:sp>
        <p:nvSpPr>
          <p:cNvPr id="44" name="Oval 43"/>
          <p:cNvSpPr/>
          <p:nvPr/>
        </p:nvSpPr>
        <p:spPr>
          <a:xfrm>
            <a:off x="5391912" y="1901952"/>
            <a:ext cx="329184" cy="329184"/>
          </a:xfrm>
          <a:prstGeom prst="ellipse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iv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91456" y="2267712"/>
            <a:ext cx="1502664" cy="138988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4A5568"/>
                </a:solidFill>
              </a:rPr>
              <a:t>Manually read
through auditor
supporting docs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1552" y="1463040"/>
            <a:ext cx="1502664" cy="420624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1A1A2E"/>
                </a:solidFill>
              </a:rPr>
              <a:t>Risk Judgement</a:t>
            </a:r>
          </a:p>
        </p:txBody>
      </p:sp>
      <p:sp>
        <p:nvSpPr>
          <p:cNvPr id="47" name="Oval 46"/>
          <p:cNvSpPr/>
          <p:nvPr/>
        </p:nvSpPr>
        <p:spPr>
          <a:xfrm>
            <a:off x="6922008" y="1901952"/>
            <a:ext cx="329184" cy="329184"/>
          </a:xfrm>
          <a:prstGeom prst="ellipse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1552" y="2267712"/>
            <a:ext cx="1502664" cy="138988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4A5568"/>
                </a:solidFill>
              </a:rPr>
              <a:t>Subjective risk
assessment based
on experience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51648" y="1463040"/>
            <a:ext cx="1502664" cy="420624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1A1A2E"/>
                </a:solidFill>
              </a:rPr>
              <a:t>Excel Entry</a:t>
            </a:r>
          </a:p>
        </p:txBody>
      </p:sp>
      <p:sp>
        <p:nvSpPr>
          <p:cNvPr id="50" name="Oval 49"/>
          <p:cNvSpPr/>
          <p:nvPr/>
        </p:nvSpPr>
        <p:spPr>
          <a:xfrm>
            <a:off x="8452104" y="1901952"/>
            <a:ext cx="329184" cy="329184"/>
          </a:xfrm>
          <a:prstGeom prst="ellipse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vi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51648" y="2267712"/>
            <a:ext cx="1502664" cy="138988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4A5568"/>
                </a:solidFill>
              </a:rPr>
              <a:t>Manually populate
findings &amp; rationale
in Excel report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1168" y="3666744"/>
            <a:ext cx="9180576" cy="27432"/>
          </a:xfrm>
          <a:prstGeom prst="rect">
            <a:avLst/>
          </a:prstGeom>
          <a:solidFill>
            <a:srgbClr val="F5C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01168" y="3712464"/>
            <a:ext cx="9180576" cy="29260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7744" y="373075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05A28"/>
                </a:solidFill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3712464"/>
            <a:ext cx="5029200" cy="292608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l"/>
            <a:r>
              <a:rPr sz="950" b="1">
                <a:solidFill>
                  <a:srgbClr val="FFFFFF"/>
                </a:solidFill>
              </a:rPr>
              <a:t>To-Be  —  AI Multi-Agent System  (8 Agents  ·  Automated  ·  Evidence-Backed)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1168" y="4041648"/>
            <a:ext cx="1481328" cy="2596896"/>
          </a:xfrm>
          <a:prstGeom prst="rect">
            <a:avLst/>
          </a:prstGeom>
          <a:solidFill>
            <a:srgbClr val="F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01168" y="4041648"/>
            <a:ext cx="1481328" cy="25603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1168" y="4041648"/>
            <a:ext cx="1481328" cy="256032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PHASE 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1168" y="4297680"/>
            <a:ext cx="1481328" cy="219456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Scope Identifier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5176" y="4517136"/>
            <a:ext cx="1389888" cy="1883664"/>
          </a:xfrm>
          <a:prstGeom prst="rect">
            <a:avLst/>
          </a:prstGeom>
          <a:solidFill>
            <a:srgbClr val="FDF3EF"/>
          </a:solidFill>
        </p:spPr>
        <p:txBody>
          <a:bodyPr wrap="square" anchor="t"/>
          <a:lstStyle/>
          <a:p>
            <a:pPr algn="l"/>
            <a:r>
              <a:rPr sz="750" b="0">
                <a:solidFill>
                  <a:srgbClr val="4A5568"/>
                </a:solidFill>
              </a:rPr>
              <a:t>Reads question +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response + follow-up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Maps to 1 of 48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FCPA audit scope areas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3-tier confidence routing: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High / Medium / Low conf.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Retries once if no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scope returned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1168" y="6400800"/>
            <a:ext cx="1481328" cy="237744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1168" y="6400800"/>
            <a:ext cx="1481328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00" b="1">
                <a:solidFill>
                  <a:srgbClr val="C44018"/>
                </a:solidFill>
              </a:rPr>
              <a:t>1 Agent</a:t>
            </a:r>
          </a:p>
        </p:txBody>
      </p:sp>
      <p:sp>
        <p:nvSpPr>
          <p:cNvPr id="63" name="Can 62"/>
          <p:cNvSpPr/>
          <p:nvPr/>
        </p:nvSpPr>
        <p:spPr>
          <a:xfrm>
            <a:off x="1719072" y="5175504"/>
            <a:ext cx="347472" cy="329184"/>
          </a:xfrm>
          <a:prstGeom prst="can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103120" y="4041648"/>
            <a:ext cx="2578608" cy="2596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103120" y="4041648"/>
            <a:ext cx="2578608" cy="25603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03120" y="4041648"/>
            <a:ext cx="2578608" cy="256032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PHASE 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03120" y="4297680"/>
            <a:ext cx="2578608" cy="219456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Parallel Retrieval  (asyncio.gather)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67128" y="4517136"/>
            <a:ext cx="2487168" cy="1883664"/>
          </a:xfrm>
          <a:prstGeom prst="rect">
            <a:avLst/>
          </a:prstGeom>
          <a:solidFill>
            <a:srgbClr val="FFFFFF"/>
          </a:solidFill>
        </p:spPr>
        <p:txBody>
          <a:bodyPr wrap="square" anchor="t"/>
          <a:lstStyle/>
          <a:p>
            <a:pPr algn="l"/>
            <a:r>
              <a:rPr sz="750" b="0">
                <a:solidFill>
                  <a:srgbClr val="4A5568"/>
                </a:solidFill>
              </a:rPr>
              <a:t>HCBI Policy Agent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  hcbi_policy_index  top-k=5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  MQR n=2 phrasings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Policy Knowledge Agent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  fcpa_scope_policy + DD policy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  scope-filtered retrieval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Supporting Docs Agent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  BM25 + RRF hybrid reranker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  per-auditor folder filter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03120" y="6400800"/>
            <a:ext cx="2578608" cy="237744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0" y="6400800"/>
            <a:ext cx="2578608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00" b="1">
                <a:solidFill>
                  <a:srgbClr val="C44018"/>
                </a:solidFill>
              </a:rPr>
              <a:t>3 Agents  ·  run simultaneously</a:t>
            </a:r>
          </a:p>
        </p:txBody>
      </p:sp>
      <p:sp>
        <p:nvSpPr>
          <p:cNvPr id="71" name="Can 70"/>
          <p:cNvSpPr/>
          <p:nvPr/>
        </p:nvSpPr>
        <p:spPr>
          <a:xfrm>
            <a:off x="4718304" y="5175504"/>
            <a:ext cx="347472" cy="329184"/>
          </a:xfrm>
          <a:prstGeom prst="can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102352" y="4041648"/>
            <a:ext cx="2944368" cy="2596896"/>
          </a:xfrm>
          <a:prstGeom prst="rect">
            <a:avLst/>
          </a:prstGeom>
          <a:solidFill>
            <a:srgbClr val="F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102352" y="4041648"/>
            <a:ext cx="2944368" cy="25603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02352" y="4041648"/>
            <a:ext cx="2944368" cy="256032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PHASE 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02352" y="4297680"/>
            <a:ext cx="2944368" cy="219456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Sequential Analysis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66360" y="4517136"/>
            <a:ext cx="2852928" cy="1883664"/>
          </a:xfrm>
          <a:prstGeom prst="rect">
            <a:avLst/>
          </a:prstGeom>
          <a:solidFill>
            <a:srgbClr val="FDF3EF"/>
          </a:solidFill>
        </p:spPr>
        <p:txBody>
          <a:bodyPr wrap="square" anchor="t"/>
          <a:lstStyle/>
          <a:p>
            <a:pPr algn="l"/>
            <a:r>
              <a:rPr sz="750" b="0">
                <a:solidFill>
                  <a:srgbClr val="4A5568"/>
                </a:solidFill>
              </a:rPr>
              <a:t>Conflict Detector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  cross-row similarity &gt; 0.90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Risk Evaluation Agent  (GPT-5)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  compliance gaps + risk level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  sets transactional_intent flag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Risk Classifier Agent  (GPT-5)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  9-field structured output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Risk Writer Agent  (GPT-5)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  final fields + Excel save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102352" y="6400800"/>
            <a:ext cx="2944368" cy="237744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102352" y="6400800"/>
            <a:ext cx="2944368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00" b="1">
                <a:solidFill>
                  <a:srgbClr val="C44018"/>
                </a:solidFill>
              </a:rPr>
              <a:t>4 Agents  ·  run in sequence</a:t>
            </a:r>
          </a:p>
        </p:txBody>
      </p:sp>
      <p:sp>
        <p:nvSpPr>
          <p:cNvPr id="79" name="Can 78"/>
          <p:cNvSpPr/>
          <p:nvPr/>
        </p:nvSpPr>
        <p:spPr>
          <a:xfrm>
            <a:off x="8083296" y="5175504"/>
            <a:ext cx="347472" cy="329184"/>
          </a:xfrm>
          <a:prstGeom prst="can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467344" y="4041648"/>
            <a:ext cx="877824" cy="2596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467344" y="4041648"/>
            <a:ext cx="877824" cy="25603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467344" y="4041648"/>
            <a:ext cx="877824" cy="256032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67344" y="4297680"/>
            <a:ext cx="877824" cy="219456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FCPA Audit Excel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31352" y="4517136"/>
            <a:ext cx="786384" cy="1883664"/>
          </a:xfrm>
          <a:prstGeom prst="rect">
            <a:avLst/>
          </a:prstGeom>
          <a:solidFill>
            <a:srgbClr val="FFFFFF"/>
          </a:solidFill>
        </p:spPr>
        <p:txBody>
          <a:bodyPr wrap="square" anchor="t"/>
          <a:lstStyle/>
          <a:p>
            <a:pPr algn="l"/>
            <a:r>
              <a:rPr sz="750" b="0">
                <a:solidFill>
                  <a:srgbClr val="4A5568"/>
                </a:solidFill>
              </a:rPr>
              <a:t>Risk Title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Risk Type &amp; Category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Risk Rationale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Scope Area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Evidence Reference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Source Documents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Transaction Samples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Colour-coded rows: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High=red  Med=yellow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467344" y="6400800"/>
            <a:ext cx="877824" cy="237744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67344" y="6400800"/>
            <a:ext cx="877824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00" b="1">
                <a:solidFill>
                  <a:srgbClr val="C44018"/>
                </a:solidFill>
              </a:rPr>
              <a:t>Auto-saved per question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1168" y="6181344"/>
            <a:ext cx="5049316" cy="20116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00" b="0">
                <a:solidFill>
                  <a:srgbClr val="718096"/>
                </a:solidFill>
              </a:rPr>
              <a:t>  + Phase 3: TransactionalDataAnalysisAgent — AI-driven SQL on all 48 FCPA scopes after Q&amp;A rows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1168" y="6638544"/>
            <a:ext cx="11859768" cy="219456"/>
          </a:xfrm>
          <a:prstGeom prst="rect">
            <a:avLst/>
          </a:prstGeom>
          <a:solidFill>
            <a:srgbClr val="F7F7F7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A0AEBE"/>
                </a:solidFill>
              </a:rPr>
              <a:t>CONFIDENTIAL   ·   EXL Service   ·   AI Auditor   ·  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44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896344" cy="603504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AGENT DEEP-DIVE  —  ALL 8 AGENTS  &amp;  PHASE 3 TRANSACTIONAL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115568"/>
            <a:ext cx="12097512" cy="54864"/>
          </a:xfrm>
          <a:prstGeom prst="rect">
            <a:avLst/>
          </a:prstGeom>
          <a:solidFill>
            <a:srgbClr val="F5C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170432"/>
            <a:ext cx="1655064" cy="256032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C44018"/>
                </a:solidFill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1170432"/>
            <a:ext cx="466344" cy="256032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C44018"/>
                </a:solidFill>
              </a:rPr>
              <a:t>PH.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170432"/>
            <a:ext cx="2167128" cy="256032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C44018"/>
                </a:solidFill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1170432"/>
            <a:ext cx="2295144" cy="256032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C44018"/>
                </a:solidFill>
              </a:rPr>
              <a:t>KEY 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426464"/>
            <a:ext cx="1655064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Scope Identifier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8528" y="1426464"/>
            <a:ext cx="466344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05A28"/>
                </a:solidFill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1426464"/>
            <a:ext cx="2167128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Maps question to 48 FCPA scope areas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1426464"/>
            <a:ext cx="2295144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718096"/>
                </a:solidFill>
              </a:rPr>
              <a:t>LLM 4-line output  ·  3-tier confidence routing  ·  retry once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073402"/>
            <a:ext cx="1655064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HCBI Policy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8528" y="2073402"/>
            <a:ext cx="466344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05A28"/>
                </a:solidFill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2073402"/>
            <a:ext cx="2167128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Retrieves HCBI global policy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2073402"/>
            <a:ext cx="2295144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718096"/>
                </a:solidFill>
              </a:rPr>
              <a:t>MQR n=2  ·  hcbi_policy_index  ·  top-k=5  ·  async gather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720340"/>
            <a:ext cx="1655064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Policy Knowledge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" y="2720340"/>
            <a:ext cx="466344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05A28"/>
                </a:solidFill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2720340"/>
            <a:ext cx="2167128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Retrieves FCPA scope + DD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2720340"/>
            <a:ext cx="2295144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718096"/>
                </a:solidFill>
              </a:rPr>
              <a:t>ScopePolicyTool (always)  ·  DDPolicyTool (DUE_DILIGENCE only)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367278"/>
            <a:ext cx="1655064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Supporting 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38528" y="3367278"/>
            <a:ext cx="466344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05A28"/>
                </a:solidFill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3367278"/>
            <a:ext cx="2167128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Retrieves auditor-specific evidence 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6592" y="3367278"/>
            <a:ext cx="2295144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718096"/>
                </a:solidFill>
              </a:rPr>
              <a:t>MQR n=3  ·  BM25+RRF reranker  ·  auditor_folder filter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" y="4014216"/>
            <a:ext cx="1655064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Risk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38528" y="4014216"/>
            <a:ext cx="466344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05A28"/>
                </a:solidFill>
              </a:rP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87168" y="4014216"/>
            <a:ext cx="2167128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Identifies compliance gaps + risk level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4014216"/>
            <a:ext cx="2295144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718096"/>
                </a:solidFill>
              </a:rPr>
              <a:t>GPT-5 reasoning only  ·  sets transactional_intent flag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" y="4661154"/>
            <a:ext cx="1655064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Transactional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38528" y="4661154"/>
            <a:ext cx="466344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05A28"/>
                </a:solidFill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87168" y="4661154"/>
            <a:ext cx="2167128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NL-to-SQL on payments / revenue tables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6592" y="4661154"/>
            <a:ext cx="2295144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718096"/>
                </a:solidFill>
              </a:rPr>
              <a:t>CONDITIONAL  ·  Delta tables  ·  quantitative signal required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" y="5308092"/>
            <a:ext cx="1655064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Risk Classifier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38528" y="5308092"/>
            <a:ext cx="466344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05A28"/>
                </a:solidFill>
              </a:rPr>
              <a:t>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87168" y="5308092"/>
            <a:ext cx="2167128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9-field structured risk classification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36592" y="5308092"/>
            <a:ext cx="2295144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718096"/>
                </a:solidFill>
              </a:rPr>
              <a:t>Risk Type · Category · Evidence · Gap · GL Mismatch · Scope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" y="5955030"/>
            <a:ext cx="1655064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Risk Writer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38528" y="5955030"/>
            <a:ext cx="466344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05A28"/>
                </a:solidFill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87168" y="5955030"/>
            <a:ext cx="2167128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Generates all final output fields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36592" y="5955030"/>
            <a:ext cx="2295144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718096"/>
                </a:solidFill>
              </a:rPr>
              <a:t>Risk Title/Desc/Rationale  ·  Scope Reasoning  ·  Excel save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" y="6400800"/>
            <a:ext cx="6912864" cy="237744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Guardrails G1-G10 on all agents  ·  Pydantic structured-output validation  ·  SQL: SELECT-only · try_cast · deterministic LIMIT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1170432"/>
            <a:ext cx="4837176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44018"/>
                </a:solidFill>
              </a:rPr>
              <a:t>  PHASE 3  —  TRANSACTIONAL DATA ANALYSIS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1408176"/>
            <a:ext cx="4837176" cy="329184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AI-driven  ·  Runs ONCE after all question rows
All 48 FCPA scopes  ·  Concurrent thread pool (6 workers)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1737360"/>
            <a:ext cx="694944" cy="74066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LOAD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36992" y="1737360"/>
            <a:ext cx="4123944" cy="740664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CPR guidance for all 48 scopes
risk_profile · red_flags · data_calculations
sampling_rationale · expected_sample_size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2505456"/>
            <a:ext cx="694944" cy="74066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STEP 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36992" y="2505456"/>
            <a:ext cx="4123944" cy="740664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LLM: Data Calculations (col I) to SQL
Uses FCPA intelligence if guidance thin
try_cast for STRING numerics  ·  LIMIT 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3273552"/>
            <a:ext cx="694944" cy="74066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STEP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36992" y="3273552"/>
            <a:ext cx="4123944" cy="740664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Execute SQL against Delta tables
Scope-specific computed data result
Falls back to shared summary if empty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4041648"/>
            <a:ext cx="694944" cy="74066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STEP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36992" y="4041648"/>
            <a:ext cx="4123944" cy="740664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LLM: ONE consolidated risk assessment
Risk Type · Risk Category · Score
Description + Rationale (all concerns merged)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4809744"/>
            <a:ext cx="694944" cy="74066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STEP 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36992" y="4809744"/>
            <a:ext cx="4123944" cy="740664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If risk detected: pull transaction samples
SELECT *  LIMIT = Expected Sample Size + 5
Exact source table from query FROM clause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0" y="5577840"/>
            <a:ext cx="694944" cy="74066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OUTPUT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36992" y="5577840"/>
            <a:ext cx="4123944" cy="740664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~48 rows (one per scope area)
No Risk scopes emit row with no samples
Appended to Excel after question rows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1168" y="6638544"/>
            <a:ext cx="11859768" cy="219456"/>
          </a:xfrm>
          <a:prstGeom prst="rect">
            <a:avLst/>
          </a:prstGeom>
          <a:solidFill>
            <a:srgbClr val="F7F7F7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A0AEBE"/>
                </a:solidFill>
              </a:rPr>
              <a:t>CONFIDENTIAL   ·   EXL Service   ·   AI Auditor   ·  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44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896344" cy="603504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OUTPUT  ·  GOVERNANCE  ·  OBSERVABILITY  ·  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115568"/>
            <a:ext cx="12097512" cy="54864"/>
          </a:xfrm>
          <a:prstGeom prst="rect">
            <a:avLst/>
          </a:prstGeom>
          <a:solidFill>
            <a:srgbClr val="F5C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170432"/>
            <a:ext cx="3892296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44018"/>
                </a:solidFill>
              </a:rPr>
              <a:t>  OUTPUT  —  FCPA_Audit_&lt;AUDITOR_ID&gt;_&lt;ts&gt;.xlsx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1408176"/>
            <a:ext cx="3892296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  Output A — Risk 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609344"/>
            <a:ext cx="3892296" cy="27432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Risk Title  ·  Risk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1883664"/>
            <a:ext cx="3892296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Risk Category  ·  Risk Category Reasoning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2157984"/>
            <a:ext cx="3892296" cy="27432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Risk Rationale  ·  Risk 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2432304"/>
            <a:ext cx="3892296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Scope Area  ·  Scope Area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2706624"/>
            <a:ext cx="3892296" cy="27432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Evidence Explanation  ·  Calculation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2980944"/>
            <a:ext cx="3892296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Samples (transaction rows)  ·  Source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3255264"/>
            <a:ext cx="3892296" cy="27432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Question  ·  Response  ·  Follow-up Q &amp; 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3529584"/>
            <a:ext cx="3892296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  Output B — Scope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3730752"/>
            <a:ext cx="3892296" cy="219456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Count: Potential Risk  ·  Further Review  ·  No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3950208"/>
            <a:ext cx="3892296" cy="219456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Top compliance gaps  ·  Average category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4169664"/>
            <a:ext cx="3892296" cy="219456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Row colour: High=red · Med/Low=yellow · No Risk=none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4443984"/>
            <a:ext cx="3892296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44018"/>
                </a:solidFill>
              </a:rPr>
              <a:t>  GOVERNANCE &amp;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4681728"/>
            <a:ext cx="3892296" cy="24460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G1-G10 guardrails on all 8 agent system prompts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4926330"/>
            <a:ext cx="3892296" cy="24460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G1-G6: hallucination · data invention · bias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5170932"/>
            <a:ext cx="3892296" cy="24460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        FCPA scope · no legal advice · PII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5415534"/>
            <a:ext cx="3892296" cy="24460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G7-G10: valid scope IDs · exact output format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5660136"/>
            <a:ext cx="3892296" cy="24460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         confidence calibration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5904738"/>
            <a:ext cx="3892296" cy="24460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Pydantic structured-output on every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" y="6149340"/>
            <a:ext cx="3892296" cy="24460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SQL: SELECT-only · try_cast · LIMIT override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" y="6393942"/>
            <a:ext cx="3892296" cy="24460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FastAPI: X-API-Key · 10 req/min · sanitization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84904" y="1170432"/>
            <a:ext cx="3892296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44018"/>
                </a:solidFill>
              </a:rPr>
              <a:t>  OBSERVABILITY  —  Lakebase Postgres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84904" y="1408176"/>
            <a:ext cx="3892296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  Observability Store (OTEL)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84904" y="1609344"/>
            <a:ext cx="3892296" cy="67056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OpenTelemetry protocol emitted by every agent
and the pipeline on every call.
Captures: traces · spans · metrics · logs
Backend: Lakebase Postgres (Databricks)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84904" y="2279904"/>
            <a:ext cx="3892296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  Feedback 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4904" y="2481072"/>
            <a:ext cx="3892296" cy="670560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End-user feedback captured on the UI.
Rating + comments per finding.
Keyed to: job_id · question_id · scope_id
Backend: Lakebase Postgres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4904" y="3151632"/>
            <a:ext cx="3892296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  Prior Audit Context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84904" y="3352800"/>
            <a:ext cx="3892296" cy="67056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Past audit summaries surfaced per question.
PastAuditSummarizerAgent condenses prior
findings injected into Risk Evaluation
agent context window.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84904" y="4078224"/>
            <a:ext cx="3892296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44018"/>
                </a:solidFill>
              </a:rPr>
              <a:t>  FASTAPI LAYER  (async)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84904" y="4315968"/>
            <a:ext cx="3892296" cy="387096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1">
                <a:solidFill>
                  <a:srgbClr val="1A1A2E"/>
                </a:solidFill>
              </a:rPr>
              <a:t>POST /audit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AuditRequest → background task → job_id (202)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84904" y="4703064"/>
            <a:ext cx="3892296" cy="387096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1">
                <a:solidFill>
                  <a:srgbClr val="1A1A2E"/>
                </a:solidFill>
              </a:rPr>
              <a:t>GET /status/{job_id}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Poll: pending / complete / failed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84904" y="5090160"/>
            <a:ext cx="3892296" cy="387096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1">
                <a:solidFill>
                  <a:srgbClr val="1A1A2E"/>
                </a:solidFill>
              </a:rPr>
              <a:t>GET /health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Liveness probe (200 if process is up)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84904" y="5477256"/>
            <a:ext cx="3892296" cy="387096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1">
                <a:solidFill>
                  <a:srgbClr val="1A1A2E"/>
                </a:solidFill>
              </a:rPr>
              <a:t>GET /ready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Vector Search + LLM connectivity check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84904" y="5864352"/>
            <a:ext cx="3892296" cy="387096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1">
                <a:solidFill>
                  <a:srgbClr val="1A1A2E"/>
                </a:solidFill>
              </a:rPr>
              <a:t>Auth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SSO on UI  ·  X-API-Key on backend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84904" y="6251448"/>
            <a:ext cx="3892296" cy="387096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1">
                <a:solidFill>
                  <a:srgbClr val="1A1A2E"/>
                </a:solidFill>
              </a:rPr>
              <a:t>Safety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Rate limit 10 req/min  ·  Input sanitization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8640" y="1170432"/>
            <a:ext cx="3892296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44018"/>
                </a:solidFill>
              </a:rPr>
              <a:t>  TECHNOLOGY STACK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68640" y="1408176"/>
            <a:ext cx="3892296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  AI / LLM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8640" y="1609344"/>
            <a:ext cx="3892296" cy="1106424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Azure OpenAI GPT-5
  All 8 agents · Phase 3 · MQR generation
Azure OpenAI text-embedding-3-large
  3072 dims · ingestion + all retrieval
LangChain · LangGraph (supervisor + ReAct)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68640" y="2715768"/>
            <a:ext cx="3892296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  Retrieval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8640" y="2916936"/>
            <a:ext cx="3892296" cy="1106424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Databricks Vector Search  (4 indexes)
BM25Reranker + RRF fusion  (rank-bm25)
MultiQueryRetriever  (n=2 or 3 phrasings)
ContextAggregator: HCBI &gt; Policy &gt; Docs
Delta Lake  (transactional data tables)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68640" y="4023360"/>
            <a:ext cx="3892296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  Document Ingestion / OCR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8640" y="4224528"/>
            <a:ext cx="3892296" cy="1106424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Azure Document Intelligence (prebuilt-read)
Tesseract OCR  (fallback)
pdfplumber · PyMuPDF  (PDF pages)
python-pptx · python-docx · openpyxl
BeautifulSoup · extract-msg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68640" y="5330952"/>
            <a:ext cx="3892296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  Platform / Infrastructure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8640" y="5532120"/>
            <a:ext cx="3892296" cy="1106424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Databricks Unity Catalog on Azure
Lakebase Postgres  (observability + feedback)
OpenTelemetry (OTEL)  ·  FastAPI  ·  asyncio
SQLAlchemy · Pydantic · pydantic-settings
openpyxl  (Excel output)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1168" y="6638544"/>
            <a:ext cx="11859768" cy="219456"/>
          </a:xfrm>
          <a:prstGeom prst="rect">
            <a:avLst/>
          </a:prstGeom>
          <a:solidFill>
            <a:srgbClr val="F7F7F7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A0AEBE"/>
                </a:solidFill>
              </a:rPr>
              <a:t>CONFIDENTIAL   ·   EXL Service   ·   AI Auditor   · 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